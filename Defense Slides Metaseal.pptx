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Lst>
  <p:notesMasterIdLst>
    <p:notesMasterId r:id="rId28"/>
  </p:notesMasterIdLst>
  <p:sldIdLst>
    <p:sldId id="505" r:id="rId2"/>
    <p:sldId id="509" r:id="rId3"/>
    <p:sldId id="573" r:id="rId4"/>
    <p:sldId id="561" r:id="rId5"/>
    <p:sldId id="563" r:id="rId6"/>
    <p:sldId id="562" r:id="rId7"/>
    <p:sldId id="585" r:id="rId8"/>
    <p:sldId id="584" r:id="rId9"/>
    <p:sldId id="564" r:id="rId10"/>
    <p:sldId id="566" r:id="rId11"/>
    <p:sldId id="559" r:id="rId12"/>
    <p:sldId id="586" r:id="rId13"/>
    <p:sldId id="560" r:id="rId14"/>
    <p:sldId id="580" r:id="rId15"/>
    <p:sldId id="581" r:id="rId16"/>
    <p:sldId id="567" r:id="rId17"/>
    <p:sldId id="568" r:id="rId18"/>
    <p:sldId id="587" r:id="rId19"/>
    <p:sldId id="569" r:id="rId20"/>
    <p:sldId id="570" r:id="rId21"/>
    <p:sldId id="571" r:id="rId22"/>
    <p:sldId id="572" r:id="rId23"/>
    <p:sldId id="574" r:id="rId24"/>
    <p:sldId id="576" r:id="rId25"/>
    <p:sldId id="577" r:id="rId26"/>
    <p:sldId id="588" r:id="rId27"/>
  </p:sldIdLst>
  <p:sldSz cx="9144000" cy="5143500" type="screen16x9"/>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7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61B0B"/>
    <a:srgbClr val="800080"/>
    <a:srgbClr val="460046"/>
    <a:srgbClr val="140A0F"/>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622" autoAdjust="0"/>
    <p:restoredTop sz="90821" autoAdjust="0"/>
  </p:normalViewPr>
  <p:slideViewPr>
    <p:cSldViewPr showGuides="1">
      <p:cViewPr>
        <p:scale>
          <a:sx n="106" d="100"/>
          <a:sy n="106" d="100"/>
        </p:scale>
        <p:origin x="686" y="144"/>
      </p:cViewPr>
      <p:guideLst>
        <p:guide orient="horz" pos="1620"/>
        <p:guide pos="2874"/>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388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overlay val="0"/>
    </c:title>
    <c:autoTitleDeleted val="0"/>
    <c:plotArea>
      <c:layout/>
      <c:barChart>
        <c:barDir val="col"/>
        <c:grouping val="clustered"/>
        <c:varyColors val="1"/>
        <c:ser>
          <c:idx val="0"/>
          <c:order val="0"/>
          <c:tx>
            <c:strRef>
              <c:f>Sheet1!$B$1</c:f>
              <c:strCache>
                <c:ptCount val="1"/>
                <c:pt idx="0">
                  <c:v>Percentage of Users</c:v>
                </c:pt>
              </c:strCache>
            </c:strRef>
          </c:tx>
          <c:invertIfNegative val="1"/>
          <c:cat>
            <c:strRef>
              <c:f>Sheet1!$A$2:$A$5</c:f>
              <c:strCache>
                <c:ptCount val="4"/>
                <c:pt idx="0">
                  <c:v>Excellent (90-100%)</c:v>
                </c:pt>
                <c:pt idx="1">
                  <c:v>Good (70-89%)</c:v>
                </c:pt>
                <c:pt idx="2">
                  <c:v>Average (50-69%)</c:v>
                </c:pt>
                <c:pt idx="3">
                  <c:v>Poor (&lt;50%)</c:v>
                </c:pt>
              </c:strCache>
            </c:strRef>
          </c:cat>
          <c:val>
            <c:numRef>
              <c:f>Sheet1!$B$2:$B$5</c:f>
              <c:numCache>
                <c:formatCode>General</c:formatCode>
                <c:ptCount val="4"/>
                <c:pt idx="0">
                  <c:v>65.7</c:v>
                </c:pt>
                <c:pt idx="1">
                  <c:v>21.4</c:v>
                </c:pt>
                <c:pt idx="2">
                  <c:v>8.6</c:v>
                </c:pt>
                <c:pt idx="3">
                  <c:v>4.3</c:v>
                </c:pt>
              </c:numCache>
            </c:numRef>
          </c:val>
          <c:extLst>
            <c:ext xmlns:c16="http://schemas.microsoft.com/office/drawing/2014/chart" uri="{C3380CC4-5D6E-409C-BE32-E72D297353CC}">
              <c16:uniqueId val="{00000000-711F-EB4A-B9F4-68051966634A}"/>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title>
          <c:tx>
            <c:rich>
              <a:bodyPr/>
              <a:lstStyle/>
              <a:p>
                <a:r>
                  <a:rPr lang="en-US"/>
                  <a:t>Percentage (%)</a:t>
                </a:r>
              </a:p>
            </c:rich>
          </c:tx>
          <c:overlay val="0"/>
        </c:title>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250B29-CF81-CE45-A752-219733EFDBF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34F9FBBF-79A0-B54E-9C56-E097E80A4F8C}">
      <dgm:prSet custT="1"/>
      <dgm:spPr/>
      <dgm:t>
        <a:bodyPr/>
        <a:lstStyle/>
        <a:p>
          <a:pPr algn="l"/>
          <a:r>
            <a:rPr lang="en-US" sz="1800" dirty="0"/>
            <a:t>This study provides the first systematic evaluation of </a:t>
          </a:r>
          <a:r>
            <a:rPr lang="en-US" sz="1800" dirty="0" err="1"/>
            <a:t>MetaSeal</a:t>
          </a:r>
          <a:r>
            <a:rPr lang="en-US" sz="1800" dirty="0"/>
            <a:t> under spatial manipulations, identifying critical vulnerabilities to centre-cropping (10–25% area removal threshold), rotation (above 5°), and horizontal flipping.</a:t>
          </a:r>
        </a:p>
      </dgm:t>
    </dgm:pt>
    <dgm:pt modelId="{9E37DCDB-E9DD-9847-A2BC-809E25FD13EA}" type="parTrans" cxnId="{64BDB679-A096-DC47-BDE7-C162FAF2C1D6}">
      <dgm:prSet/>
      <dgm:spPr/>
      <dgm:t>
        <a:bodyPr/>
        <a:lstStyle/>
        <a:p>
          <a:endParaRPr lang="en-US"/>
        </a:p>
      </dgm:t>
    </dgm:pt>
    <dgm:pt modelId="{C2C3D069-D269-7C4E-9800-7A4D5FFAAFF1}" type="sibTrans" cxnId="{64BDB679-A096-DC47-BDE7-C162FAF2C1D6}">
      <dgm:prSet/>
      <dgm:spPr/>
      <dgm:t>
        <a:bodyPr/>
        <a:lstStyle/>
        <a:p>
          <a:endParaRPr lang="en-US"/>
        </a:p>
      </dgm:t>
    </dgm:pt>
    <dgm:pt modelId="{4AEE065C-7E8F-9248-9BB9-7BE653459F0A}">
      <dgm:prSet custT="1"/>
      <dgm:spPr/>
      <dgm:t>
        <a:bodyPr/>
        <a:lstStyle/>
        <a:p>
          <a:pPr algn="l"/>
          <a:r>
            <a:rPr lang="en-US" sz="1800" b="0" dirty="0"/>
            <a:t>This delivers the first large-scale experimental proof that </a:t>
          </a:r>
          <a:r>
            <a:rPr lang="en-US" sz="1800" b="0" dirty="0" err="1"/>
            <a:t>MetaSeal's</a:t>
          </a:r>
          <a:r>
            <a:rPr lang="en-US" sz="1800" b="0" dirty="0"/>
            <a:t> content-dependent design successfully resists transferable forgery via semantic averaging at a scale of N = 1,000 images. </a:t>
          </a:r>
        </a:p>
      </dgm:t>
    </dgm:pt>
    <dgm:pt modelId="{CB5294FA-1652-7E4B-A07C-080A688BD2C3}" type="parTrans" cxnId="{5723B23D-5CF1-2E42-B304-8B5BE42ED6AB}">
      <dgm:prSet/>
      <dgm:spPr/>
      <dgm:t>
        <a:bodyPr/>
        <a:lstStyle/>
        <a:p>
          <a:endParaRPr lang="en-US"/>
        </a:p>
      </dgm:t>
    </dgm:pt>
    <dgm:pt modelId="{454E61BC-1C4A-D745-BD07-B6F418805F48}" type="sibTrans" cxnId="{5723B23D-5CF1-2E42-B304-8B5BE42ED6AB}">
      <dgm:prSet/>
      <dgm:spPr/>
      <dgm:t>
        <a:bodyPr/>
        <a:lstStyle/>
        <a:p>
          <a:endParaRPr lang="en-US"/>
        </a:p>
      </dgm:t>
    </dgm:pt>
    <dgm:pt modelId="{91A6F84F-BFED-8C4E-A8FA-DA1632358B9B}">
      <dgm:prSet custT="1"/>
      <dgm:spPr/>
      <dgm:t>
        <a:bodyPr/>
        <a:lstStyle/>
        <a:p>
          <a:pPr algn="l"/>
          <a:r>
            <a:rPr lang="en-US" sz="1800" b="0" dirty="0"/>
            <a:t>Pinpoints the </a:t>
          </a:r>
          <a:r>
            <a:rPr lang="en-US" sz="1800" b="0" dirty="0" err="1"/>
            <a:t>ZBar</a:t>
          </a:r>
          <a:r>
            <a:rPr lang="en-US" sz="1800" b="0" dirty="0"/>
            <a:t>-based QR decoding layer as the primary point of failure under geometric attacks, indicating that future robustness improvements only require upgrading the spatial payload carrier rather than the entire cryptographic pipeline.</a:t>
          </a:r>
        </a:p>
      </dgm:t>
    </dgm:pt>
    <dgm:pt modelId="{1D93D29E-E24E-3845-874B-08E6F42C0021}" type="parTrans" cxnId="{50E9C3AF-F807-EF46-8933-FD36E1307340}">
      <dgm:prSet/>
      <dgm:spPr/>
      <dgm:t>
        <a:bodyPr/>
        <a:lstStyle/>
        <a:p>
          <a:endParaRPr lang="en-US"/>
        </a:p>
      </dgm:t>
    </dgm:pt>
    <dgm:pt modelId="{55DCA12F-9514-D948-AE98-FEF5343A51E2}" type="sibTrans" cxnId="{50E9C3AF-F807-EF46-8933-FD36E1307340}">
      <dgm:prSet/>
      <dgm:spPr/>
      <dgm:t>
        <a:bodyPr/>
        <a:lstStyle/>
        <a:p>
          <a:endParaRPr lang="en-US"/>
        </a:p>
      </dgm:t>
    </dgm:pt>
    <dgm:pt modelId="{9B4277F2-E6E8-134E-9915-9866BD120CAD}" type="pres">
      <dgm:prSet presAssocID="{81250B29-CF81-CE45-A752-219733EFDBF4}" presName="Name0" presStyleCnt="0">
        <dgm:presLayoutVars>
          <dgm:dir/>
          <dgm:animLvl val="lvl"/>
          <dgm:resizeHandles val="exact"/>
        </dgm:presLayoutVars>
      </dgm:prSet>
      <dgm:spPr/>
    </dgm:pt>
    <dgm:pt modelId="{841A03A3-EE33-F642-88B7-2AF4A961E579}" type="pres">
      <dgm:prSet presAssocID="{34F9FBBF-79A0-B54E-9C56-E097E80A4F8C}" presName="linNode" presStyleCnt="0"/>
      <dgm:spPr/>
    </dgm:pt>
    <dgm:pt modelId="{74543A32-0817-DE43-8468-4F0676664CEB}" type="pres">
      <dgm:prSet presAssocID="{34F9FBBF-79A0-B54E-9C56-E097E80A4F8C}" presName="parentText" presStyleLbl="node1" presStyleIdx="0" presStyleCnt="3" custScaleX="277778" custScaleY="22454" custLinFactNeighborX="-136" custLinFactNeighborY="7377">
        <dgm:presLayoutVars>
          <dgm:chMax val="1"/>
          <dgm:bulletEnabled val="1"/>
        </dgm:presLayoutVars>
      </dgm:prSet>
      <dgm:spPr/>
    </dgm:pt>
    <dgm:pt modelId="{333F2D41-7E62-E349-915D-092EC13C7A2A}" type="pres">
      <dgm:prSet presAssocID="{C2C3D069-D269-7C4E-9800-7A4D5FFAAFF1}" presName="sp" presStyleCnt="0"/>
      <dgm:spPr/>
    </dgm:pt>
    <dgm:pt modelId="{A378B060-7A00-C641-9A13-8EE153670539}" type="pres">
      <dgm:prSet presAssocID="{4AEE065C-7E8F-9248-9BB9-7BE653459F0A}" presName="linNode" presStyleCnt="0"/>
      <dgm:spPr/>
    </dgm:pt>
    <dgm:pt modelId="{1DF918B2-A364-8A4D-9280-53DC6AA0C331}" type="pres">
      <dgm:prSet presAssocID="{4AEE065C-7E8F-9248-9BB9-7BE653459F0A}" presName="parentText" presStyleLbl="node1" presStyleIdx="1" presStyleCnt="3" custScaleX="277778" custScaleY="24654" custLinFactNeighborX="-136" custLinFactNeighborY="8483">
        <dgm:presLayoutVars>
          <dgm:chMax val="1"/>
          <dgm:bulletEnabled val="1"/>
        </dgm:presLayoutVars>
      </dgm:prSet>
      <dgm:spPr/>
    </dgm:pt>
    <dgm:pt modelId="{E0342C60-0761-0D40-BEEE-4E5F5B1C7301}" type="pres">
      <dgm:prSet presAssocID="{454E61BC-1C4A-D745-BD07-B6F418805F48}" presName="sp" presStyleCnt="0"/>
      <dgm:spPr/>
    </dgm:pt>
    <dgm:pt modelId="{440E1072-3547-CC42-A03D-01C4F336E917}" type="pres">
      <dgm:prSet presAssocID="{91A6F84F-BFED-8C4E-A8FA-DA1632358B9B}" presName="linNode" presStyleCnt="0"/>
      <dgm:spPr/>
    </dgm:pt>
    <dgm:pt modelId="{D5F5AC12-990D-184C-9199-6FA268570908}" type="pres">
      <dgm:prSet presAssocID="{91A6F84F-BFED-8C4E-A8FA-DA1632358B9B}" presName="parentText" presStyleLbl="node1" presStyleIdx="2" presStyleCnt="3" custScaleX="277778" custScaleY="25624" custLinFactNeighborX="-136" custLinFactNeighborY="7918">
        <dgm:presLayoutVars>
          <dgm:chMax val="1"/>
          <dgm:bulletEnabled val="1"/>
        </dgm:presLayoutVars>
      </dgm:prSet>
      <dgm:spPr/>
    </dgm:pt>
  </dgm:ptLst>
  <dgm:cxnLst>
    <dgm:cxn modelId="{6F7C8B06-24D5-6B4F-84A5-176504EFD61F}" type="presOf" srcId="{34F9FBBF-79A0-B54E-9C56-E097E80A4F8C}" destId="{74543A32-0817-DE43-8468-4F0676664CEB}" srcOrd="0" destOrd="0" presId="urn:microsoft.com/office/officeart/2005/8/layout/vList5"/>
    <dgm:cxn modelId="{56405A1A-DA28-8143-BBB6-C625642BF7A6}" type="presOf" srcId="{81250B29-CF81-CE45-A752-219733EFDBF4}" destId="{9B4277F2-E6E8-134E-9915-9866BD120CAD}" srcOrd="0" destOrd="0" presId="urn:microsoft.com/office/officeart/2005/8/layout/vList5"/>
    <dgm:cxn modelId="{5723B23D-5CF1-2E42-B304-8B5BE42ED6AB}" srcId="{81250B29-CF81-CE45-A752-219733EFDBF4}" destId="{4AEE065C-7E8F-9248-9BB9-7BE653459F0A}" srcOrd="1" destOrd="0" parTransId="{CB5294FA-1652-7E4B-A07C-080A688BD2C3}" sibTransId="{454E61BC-1C4A-D745-BD07-B6F418805F48}"/>
    <dgm:cxn modelId="{64BDB679-A096-DC47-BDE7-C162FAF2C1D6}" srcId="{81250B29-CF81-CE45-A752-219733EFDBF4}" destId="{34F9FBBF-79A0-B54E-9C56-E097E80A4F8C}" srcOrd="0" destOrd="0" parTransId="{9E37DCDB-E9DD-9847-A2BC-809E25FD13EA}" sibTransId="{C2C3D069-D269-7C4E-9800-7A4D5FFAAFF1}"/>
    <dgm:cxn modelId="{590D0F7C-A272-7C4D-A645-2653FEEA89E5}" type="presOf" srcId="{91A6F84F-BFED-8C4E-A8FA-DA1632358B9B}" destId="{D5F5AC12-990D-184C-9199-6FA268570908}" srcOrd="0" destOrd="0" presId="urn:microsoft.com/office/officeart/2005/8/layout/vList5"/>
    <dgm:cxn modelId="{CE4DA07D-7B67-9A44-8C64-0D302C277054}" type="presOf" srcId="{4AEE065C-7E8F-9248-9BB9-7BE653459F0A}" destId="{1DF918B2-A364-8A4D-9280-53DC6AA0C331}" srcOrd="0" destOrd="0" presId="urn:microsoft.com/office/officeart/2005/8/layout/vList5"/>
    <dgm:cxn modelId="{50E9C3AF-F807-EF46-8933-FD36E1307340}" srcId="{81250B29-CF81-CE45-A752-219733EFDBF4}" destId="{91A6F84F-BFED-8C4E-A8FA-DA1632358B9B}" srcOrd="2" destOrd="0" parTransId="{1D93D29E-E24E-3845-874B-08E6F42C0021}" sibTransId="{55DCA12F-9514-D948-AE98-FEF5343A51E2}"/>
    <dgm:cxn modelId="{5B1DC584-4A54-9642-A907-F09E8A742292}" type="presParOf" srcId="{9B4277F2-E6E8-134E-9915-9866BD120CAD}" destId="{841A03A3-EE33-F642-88B7-2AF4A961E579}" srcOrd="0" destOrd="0" presId="urn:microsoft.com/office/officeart/2005/8/layout/vList5"/>
    <dgm:cxn modelId="{1B88F496-AD31-A048-BD0E-B9FC614CFFEE}" type="presParOf" srcId="{841A03A3-EE33-F642-88B7-2AF4A961E579}" destId="{74543A32-0817-DE43-8468-4F0676664CEB}" srcOrd="0" destOrd="0" presId="urn:microsoft.com/office/officeart/2005/8/layout/vList5"/>
    <dgm:cxn modelId="{B62DECFA-62A5-B449-8B5A-30EB639BFEFF}" type="presParOf" srcId="{9B4277F2-E6E8-134E-9915-9866BD120CAD}" destId="{333F2D41-7E62-E349-915D-092EC13C7A2A}" srcOrd="1" destOrd="0" presId="urn:microsoft.com/office/officeart/2005/8/layout/vList5"/>
    <dgm:cxn modelId="{17407953-6481-6341-9DE7-9D8A65795D2B}" type="presParOf" srcId="{9B4277F2-E6E8-134E-9915-9866BD120CAD}" destId="{A378B060-7A00-C641-9A13-8EE153670539}" srcOrd="2" destOrd="0" presId="urn:microsoft.com/office/officeart/2005/8/layout/vList5"/>
    <dgm:cxn modelId="{7EB5FC60-F89F-C04F-A25D-03B4F3044A43}" type="presParOf" srcId="{A378B060-7A00-C641-9A13-8EE153670539}" destId="{1DF918B2-A364-8A4D-9280-53DC6AA0C331}" srcOrd="0" destOrd="0" presId="urn:microsoft.com/office/officeart/2005/8/layout/vList5"/>
    <dgm:cxn modelId="{2D0C6C44-829F-7248-80A9-1D28ECC19D53}" type="presParOf" srcId="{9B4277F2-E6E8-134E-9915-9866BD120CAD}" destId="{E0342C60-0761-0D40-BEEE-4E5F5B1C7301}" srcOrd="3" destOrd="0" presId="urn:microsoft.com/office/officeart/2005/8/layout/vList5"/>
    <dgm:cxn modelId="{2FBE8CD0-975B-3840-B4EF-C7B0C7563166}" type="presParOf" srcId="{9B4277F2-E6E8-134E-9915-9866BD120CAD}" destId="{440E1072-3547-CC42-A03D-01C4F336E917}" srcOrd="4" destOrd="0" presId="urn:microsoft.com/office/officeart/2005/8/layout/vList5"/>
    <dgm:cxn modelId="{5B828662-E118-6C47-89B3-C8E366245746}" type="presParOf" srcId="{440E1072-3547-CC42-A03D-01C4F336E917}" destId="{D5F5AC12-990D-184C-9199-6FA268570908}"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73E6D74-0999-C14E-BA55-8AFC2D9F2527}"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C4423CA-CF7F-0D45-B2C1-A5C4790BE387}">
      <dgm:prSet custT="1"/>
      <dgm:spPr/>
      <dgm:t>
        <a:bodyPr/>
        <a:lstStyle/>
        <a:p>
          <a:r>
            <a:rPr lang="en-US" sz="2000" b="1" dirty="0"/>
            <a:t>Evaluate Compound and Adaptive Attacks</a:t>
          </a:r>
          <a:endParaRPr lang="en-US" sz="2000" dirty="0"/>
        </a:p>
      </dgm:t>
    </dgm:pt>
    <dgm:pt modelId="{E626BEB7-F129-1147-9F0E-8BC5AA0FCCE2}" type="parTrans" cxnId="{6F17B002-778D-4143-B5CB-97FA72B60F7C}">
      <dgm:prSet/>
      <dgm:spPr/>
      <dgm:t>
        <a:bodyPr/>
        <a:lstStyle/>
        <a:p>
          <a:endParaRPr lang="en-US"/>
        </a:p>
      </dgm:t>
    </dgm:pt>
    <dgm:pt modelId="{A7B75F53-4824-0E44-BD34-6D82DA70799C}" type="sibTrans" cxnId="{6F17B002-778D-4143-B5CB-97FA72B60F7C}">
      <dgm:prSet/>
      <dgm:spPr/>
      <dgm:t>
        <a:bodyPr/>
        <a:lstStyle/>
        <a:p>
          <a:endParaRPr lang="en-US"/>
        </a:p>
      </dgm:t>
    </dgm:pt>
    <dgm:pt modelId="{C8C0D167-55DA-A24D-843E-23577860E08A}">
      <dgm:prSet custT="1"/>
      <dgm:spPr/>
      <dgm:t>
        <a:bodyPr/>
        <a:lstStyle/>
        <a:p>
          <a:r>
            <a:rPr lang="en-US" sz="2000" b="1" dirty="0"/>
            <a:t>Conduct Studies With Different Kinds of Image Datasets</a:t>
          </a:r>
          <a:endParaRPr lang="en-US" sz="2000" dirty="0"/>
        </a:p>
      </dgm:t>
    </dgm:pt>
    <dgm:pt modelId="{41F189E6-1466-6F45-933C-E6590BD304FB}" type="parTrans" cxnId="{E1DE89EB-E203-F34A-BB6D-44E36429027A}">
      <dgm:prSet/>
      <dgm:spPr/>
      <dgm:t>
        <a:bodyPr/>
        <a:lstStyle/>
        <a:p>
          <a:endParaRPr lang="en-US"/>
        </a:p>
      </dgm:t>
    </dgm:pt>
    <dgm:pt modelId="{EDE212AD-45FC-B14D-B01B-17B11C2320F8}" type="sibTrans" cxnId="{E1DE89EB-E203-F34A-BB6D-44E36429027A}">
      <dgm:prSet/>
      <dgm:spPr/>
      <dgm:t>
        <a:bodyPr/>
        <a:lstStyle/>
        <a:p>
          <a:endParaRPr lang="en-US"/>
        </a:p>
      </dgm:t>
    </dgm:pt>
    <dgm:pt modelId="{2F4FF352-72EA-5E42-A9A0-CD14D0528EEB}">
      <dgm:prSet custT="1"/>
      <dgm:spPr/>
      <dgm:t>
        <a:bodyPr/>
        <a:lstStyle/>
        <a:p>
          <a:pPr algn="ctr">
            <a:buNone/>
          </a:pPr>
          <a:r>
            <a:rPr lang="en-US" sz="1600" dirty="0" err="1"/>
            <a:t>MetaSeal</a:t>
          </a:r>
          <a:r>
            <a:rPr lang="en-US" sz="1600" dirty="0"/>
            <a:t> against combined transformations (e.g., simultaneous cropping and rotation) and adaptive attacks that dynamically target specific watermark regions based on image content.</a:t>
          </a:r>
        </a:p>
      </dgm:t>
    </dgm:pt>
    <dgm:pt modelId="{5F72F423-C62F-1C45-B55A-F4D5E79CE408}" type="parTrans" cxnId="{5F12118B-35A9-1C48-A266-E16E6E816EB7}">
      <dgm:prSet/>
      <dgm:spPr/>
      <dgm:t>
        <a:bodyPr/>
        <a:lstStyle/>
        <a:p>
          <a:endParaRPr lang="en-US"/>
        </a:p>
      </dgm:t>
    </dgm:pt>
    <dgm:pt modelId="{22F645B5-8C1D-5F46-A3FD-874E9DD6E5C5}" type="sibTrans" cxnId="{5F12118B-35A9-1C48-A266-E16E6E816EB7}">
      <dgm:prSet/>
      <dgm:spPr/>
      <dgm:t>
        <a:bodyPr/>
        <a:lstStyle/>
        <a:p>
          <a:endParaRPr lang="en-US"/>
        </a:p>
      </dgm:t>
    </dgm:pt>
    <dgm:pt modelId="{CA5CCF4C-5782-A648-8FA4-E3E31D2539EB}">
      <dgm:prSet custT="1"/>
      <dgm:spPr/>
      <dgm:t>
        <a:bodyPr/>
        <a:lstStyle/>
        <a:p>
          <a:pPr algn="ctr">
            <a:buNone/>
          </a:pPr>
          <a:r>
            <a:rPr lang="en-US" sz="1600" dirty="0"/>
            <a:t>Expand the semantic averaging experiments to cluster sizes of 5,000 or 10,000 using the full </a:t>
          </a:r>
          <a:r>
            <a:rPr lang="en-US" sz="1600" dirty="0" err="1"/>
            <a:t>CelebA</a:t>
          </a:r>
          <a:r>
            <a:rPr lang="en-US" sz="1600" dirty="0"/>
            <a:t>-HQ dataset to verify if the zero-residual convergence holds at extreme scales.</a:t>
          </a:r>
        </a:p>
      </dgm:t>
    </dgm:pt>
    <dgm:pt modelId="{BAC09D21-1C76-C349-AEF3-CD089BDC1D79}" type="parTrans" cxnId="{D8442F78-69FB-8D4C-8F57-068CCD2A23F2}">
      <dgm:prSet/>
      <dgm:spPr/>
      <dgm:t>
        <a:bodyPr/>
        <a:lstStyle/>
        <a:p>
          <a:endParaRPr lang="en-US"/>
        </a:p>
      </dgm:t>
    </dgm:pt>
    <dgm:pt modelId="{B8080E25-4BE7-C041-B9F7-2052AED7E00D}" type="sibTrans" cxnId="{D8442F78-69FB-8D4C-8F57-068CCD2A23F2}">
      <dgm:prSet/>
      <dgm:spPr/>
      <dgm:t>
        <a:bodyPr/>
        <a:lstStyle/>
        <a:p>
          <a:endParaRPr lang="en-US"/>
        </a:p>
      </dgm:t>
    </dgm:pt>
    <dgm:pt modelId="{B9707073-6B5F-BB40-80AE-E4C712193CAD}">
      <dgm:prSet custT="1"/>
      <dgm:spPr/>
      <dgm:t>
        <a:bodyPr/>
        <a:lstStyle/>
        <a:p>
          <a:pPr algn="ctr">
            <a:buNone/>
          </a:pPr>
          <a:r>
            <a:rPr lang="en-US" sz="1600" dirty="0"/>
            <a:t>Apply the experimental protocol to diverse image domains such as natural scenes (e.g., DIV2K) and documents, to determine if spatial fragility thresholds behave differently than they do in face portraits.</a:t>
          </a:r>
        </a:p>
      </dgm:t>
    </dgm:pt>
    <dgm:pt modelId="{B879863D-4E24-DA4E-9B31-C58800913E6C}" type="parTrans" cxnId="{7258F316-9478-CE43-BD80-134B9A7B8CB2}">
      <dgm:prSet/>
      <dgm:spPr/>
      <dgm:t>
        <a:bodyPr/>
        <a:lstStyle/>
        <a:p>
          <a:endParaRPr lang="en-US"/>
        </a:p>
      </dgm:t>
    </dgm:pt>
    <dgm:pt modelId="{B4B602C7-8D7B-BC45-9080-2552843A39DD}" type="sibTrans" cxnId="{7258F316-9478-CE43-BD80-134B9A7B8CB2}">
      <dgm:prSet/>
      <dgm:spPr/>
      <dgm:t>
        <a:bodyPr/>
        <a:lstStyle/>
        <a:p>
          <a:endParaRPr lang="en-US"/>
        </a:p>
      </dgm:t>
    </dgm:pt>
    <dgm:pt modelId="{E4FE39C2-4459-D343-B147-B9F96BD7D0C4}">
      <dgm:prSet custT="1"/>
      <dgm:spPr/>
      <dgm:t>
        <a:bodyPr/>
        <a:lstStyle/>
        <a:p>
          <a:r>
            <a:rPr lang="en-US" sz="2000" b="1" dirty="0"/>
            <a:t>Scale Semantic Averaging Tests</a:t>
          </a:r>
          <a:endParaRPr lang="en-US" sz="2000" dirty="0"/>
        </a:p>
      </dgm:t>
    </dgm:pt>
    <dgm:pt modelId="{0C706BD0-195E-5240-A01F-D56E50673FA5}" type="sibTrans" cxnId="{D2E8A367-DFB5-6B4C-9EE9-A4AC8D62E7D6}">
      <dgm:prSet/>
      <dgm:spPr/>
      <dgm:t>
        <a:bodyPr/>
        <a:lstStyle/>
        <a:p>
          <a:endParaRPr lang="en-US"/>
        </a:p>
      </dgm:t>
    </dgm:pt>
    <dgm:pt modelId="{7A9094FD-407E-824B-B8D5-65F23F3DFD33}" type="parTrans" cxnId="{D2E8A367-DFB5-6B4C-9EE9-A4AC8D62E7D6}">
      <dgm:prSet/>
      <dgm:spPr/>
      <dgm:t>
        <a:bodyPr/>
        <a:lstStyle/>
        <a:p>
          <a:endParaRPr lang="en-US"/>
        </a:p>
      </dgm:t>
    </dgm:pt>
    <dgm:pt modelId="{F2197A99-28F7-DD4C-92D1-6581ECFE696D}" type="pres">
      <dgm:prSet presAssocID="{E73E6D74-0999-C14E-BA55-8AFC2D9F2527}" presName="Name0" presStyleCnt="0">
        <dgm:presLayoutVars>
          <dgm:dir/>
          <dgm:animLvl val="lvl"/>
          <dgm:resizeHandles val="exact"/>
        </dgm:presLayoutVars>
      </dgm:prSet>
      <dgm:spPr/>
    </dgm:pt>
    <dgm:pt modelId="{36F545BD-2180-F746-8E75-213C205F3F9F}" type="pres">
      <dgm:prSet presAssocID="{4C4423CA-CF7F-0D45-B2C1-A5C4790BE387}" presName="composite" presStyleCnt="0"/>
      <dgm:spPr/>
    </dgm:pt>
    <dgm:pt modelId="{CCCC7FA5-38FF-F044-B2B0-16CE4DE87DA4}" type="pres">
      <dgm:prSet presAssocID="{4C4423CA-CF7F-0D45-B2C1-A5C4790BE387}" presName="parTx" presStyleLbl="alignNode1" presStyleIdx="0" presStyleCnt="3">
        <dgm:presLayoutVars>
          <dgm:chMax val="0"/>
          <dgm:chPref val="0"/>
          <dgm:bulletEnabled val="1"/>
        </dgm:presLayoutVars>
      </dgm:prSet>
      <dgm:spPr/>
    </dgm:pt>
    <dgm:pt modelId="{F6CC14B3-F702-9748-B95B-A18280B98653}" type="pres">
      <dgm:prSet presAssocID="{4C4423CA-CF7F-0D45-B2C1-A5C4790BE387}" presName="desTx" presStyleLbl="alignAccFollowNode1" presStyleIdx="0" presStyleCnt="3">
        <dgm:presLayoutVars>
          <dgm:bulletEnabled val="1"/>
        </dgm:presLayoutVars>
      </dgm:prSet>
      <dgm:spPr/>
    </dgm:pt>
    <dgm:pt modelId="{E3540738-D418-5C4A-BE8C-E6D8571C4D84}" type="pres">
      <dgm:prSet presAssocID="{A7B75F53-4824-0E44-BD34-6D82DA70799C}" presName="space" presStyleCnt="0"/>
      <dgm:spPr/>
    </dgm:pt>
    <dgm:pt modelId="{3189FD35-AD82-654A-9BF2-8EA47D7544F5}" type="pres">
      <dgm:prSet presAssocID="{E4FE39C2-4459-D343-B147-B9F96BD7D0C4}" presName="composite" presStyleCnt="0"/>
      <dgm:spPr/>
    </dgm:pt>
    <dgm:pt modelId="{7579F54E-DD1A-604A-9DBA-D508F46046B6}" type="pres">
      <dgm:prSet presAssocID="{E4FE39C2-4459-D343-B147-B9F96BD7D0C4}" presName="parTx" presStyleLbl="alignNode1" presStyleIdx="1" presStyleCnt="3">
        <dgm:presLayoutVars>
          <dgm:chMax val="0"/>
          <dgm:chPref val="0"/>
          <dgm:bulletEnabled val="1"/>
        </dgm:presLayoutVars>
      </dgm:prSet>
      <dgm:spPr/>
    </dgm:pt>
    <dgm:pt modelId="{61AD669F-48CB-754F-B28D-EC54690E1141}" type="pres">
      <dgm:prSet presAssocID="{E4FE39C2-4459-D343-B147-B9F96BD7D0C4}" presName="desTx" presStyleLbl="alignAccFollowNode1" presStyleIdx="1" presStyleCnt="3">
        <dgm:presLayoutVars>
          <dgm:bulletEnabled val="1"/>
        </dgm:presLayoutVars>
      </dgm:prSet>
      <dgm:spPr/>
    </dgm:pt>
    <dgm:pt modelId="{182A09D1-FE70-5344-8C67-30971CDBFB43}" type="pres">
      <dgm:prSet presAssocID="{0C706BD0-195E-5240-A01F-D56E50673FA5}" presName="space" presStyleCnt="0"/>
      <dgm:spPr/>
    </dgm:pt>
    <dgm:pt modelId="{A72BB1EB-4A99-F44F-96DD-E56F7EA6B170}" type="pres">
      <dgm:prSet presAssocID="{C8C0D167-55DA-A24D-843E-23577860E08A}" presName="composite" presStyleCnt="0"/>
      <dgm:spPr/>
    </dgm:pt>
    <dgm:pt modelId="{C6D52947-C27E-4A43-85C2-0AD3B57989A5}" type="pres">
      <dgm:prSet presAssocID="{C8C0D167-55DA-A24D-843E-23577860E08A}" presName="parTx" presStyleLbl="alignNode1" presStyleIdx="2" presStyleCnt="3">
        <dgm:presLayoutVars>
          <dgm:chMax val="0"/>
          <dgm:chPref val="0"/>
          <dgm:bulletEnabled val="1"/>
        </dgm:presLayoutVars>
      </dgm:prSet>
      <dgm:spPr/>
    </dgm:pt>
    <dgm:pt modelId="{5CF1C3EA-E1A5-534D-907C-89EB9A51B5E0}" type="pres">
      <dgm:prSet presAssocID="{C8C0D167-55DA-A24D-843E-23577860E08A}" presName="desTx" presStyleLbl="alignAccFollowNode1" presStyleIdx="2" presStyleCnt="3">
        <dgm:presLayoutVars>
          <dgm:bulletEnabled val="1"/>
        </dgm:presLayoutVars>
      </dgm:prSet>
      <dgm:spPr/>
    </dgm:pt>
  </dgm:ptLst>
  <dgm:cxnLst>
    <dgm:cxn modelId="{6F17B002-778D-4143-B5CB-97FA72B60F7C}" srcId="{E73E6D74-0999-C14E-BA55-8AFC2D9F2527}" destId="{4C4423CA-CF7F-0D45-B2C1-A5C4790BE387}" srcOrd="0" destOrd="0" parTransId="{E626BEB7-F129-1147-9F0E-8BC5AA0FCCE2}" sibTransId="{A7B75F53-4824-0E44-BD34-6D82DA70799C}"/>
    <dgm:cxn modelId="{7258F316-9478-CE43-BD80-134B9A7B8CB2}" srcId="{C8C0D167-55DA-A24D-843E-23577860E08A}" destId="{B9707073-6B5F-BB40-80AE-E4C712193CAD}" srcOrd="0" destOrd="0" parTransId="{B879863D-4E24-DA4E-9B31-C58800913E6C}" sibTransId="{B4B602C7-8D7B-BC45-9080-2552843A39DD}"/>
    <dgm:cxn modelId="{F8DC2D23-1C87-1647-B970-622F85BE8F69}" type="presOf" srcId="{B9707073-6B5F-BB40-80AE-E4C712193CAD}" destId="{5CF1C3EA-E1A5-534D-907C-89EB9A51B5E0}" srcOrd="0" destOrd="0" presId="urn:microsoft.com/office/officeart/2005/8/layout/hList1"/>
    <dgm:cxn modelId="{D2E8A367-DFB5-6B4C-9EE9-A4AC8D62E7D6}" srcId="{E73E6D74-0999-C14E-BA55-8AFC2D9F2527}" destId="{E4FE39C2-4459-D343-B147-B9F96BD7D0C4}" srcOrd="1" destOrd="0" parTransId="{7A9094FD-407E-824B-B8D5-65F23F3DFD33}" sibTransId="{0C706BD0-195E-5240-A01F-D56E50673FA5}"/>
    <dgm:cxn modelId="{28009048-70F1-454D-B092-C8C9942A8EF7}" type="presOf" srcId="{4C4423CA-CF7F-0D45-B2C1-A5C4790BE387}" destId="{CCCC7FA5-38FF-F044-B2B0-16CE4DE87DA4}" srcOrd="0" destOrd="0" presId="urn:microsoft.com/office/officeart/2005/8/layout/hList1"/>
    <dgm:cxn modelId="{D8442F78-69FB-8D4C-8F57-068CCD2A23F2}" srcId="{E4FE39C2-4459-D343-B147-B9F96BD7D0C4}" destId="{CA5CCF4C-5782-A648-8FA4-E3E31D2539EB}" srcOrd="0" destOrd="0" parTransId="{BAC09D21-1C76-C349-AEF3-CD089BDC1D79}" sibTransId="{B8080E25-4BE7-C041-B9F7-2052AED7E00D}"/>
    <dgm:cxn modelId="{5F12118B-35A9-1C48-A266-E16E6E816EB7}" srcId="{4C4423CA-CF7F-0D45-B2C1-A5C4790BE387}" destId="{2F4FF352-72EA-5E42-A9A0-CD14D0528EEB}" srcOrd="0" destOrd="0" parTransId="{5F72F423-C62F-1C45-B55A-F4D5E79CE408}" sibTransId="{22F645B5-8C1D-5F46-A3FD-874E9DD6E5C5}"/>
    <dgm:cxn modelId="{B04413A1-3CE2-2147-A492-997E6F666EAE}" type="presOf" srcId="{E73E6D74-0999-C14E-BA55-8AFC2D9F2527}" destId="{F2197A99-28F7-DD4C-92D1-6581ECFE696D}" srcOrd="0" destOrd="0" presId="urn:microsoft.com/office/officeart/2005/8/layout/hList1"/>
    <dgm:cxn modelId="{66C10FB4-994F-2948-965F-EC57481CBD71}" type="presOf" srcId="{2F4FF352-72EA-5E42-A9A0-CD14D0528EEB}" destId="{F6CC14B3-F702-9748-B95B-A18280B98653}" srcOrd="0" destOrd="0" presId="urn:microsoft.com/office/officeart/2005/8/layout/hList1"/>
    <dgm:cxn modelId="{639F39B6-2DE7-B340-B415-AF4AF3FCDDF3}" type="presOf" srcId="{C8C0D167-55DA-A24D-843E-23577860E08A}" destId="{C6D52947-C27E-4A43-85C2-0AD3B57989A5}" srcOrd="0" destOrd="0" presId="urn:microsoft.com/office/officeart/2005/8/layout/hList1"/>
    <dgm:cxn modelId="{574034B7-9D61-2E4C-9EBD-0B2FEDAC1510}" type="presOf" srcId="{CA5CCF4C-5782-A648-8FA4-E3E31D2539EB}" destId="{61AD669F-48CB-754F-B28D-EC54690E1141}" srcOrd="0" destOrd="0" presId="urn:microsoft.com/office/officeart/2005/8/layout/hList1"/>
    <dgm:cxn modelId="{A10A66DD-FA2E-FF45-96E6-057DE7F05547}" type="presOf" srcId="{E4FE39C2-4459-D343-B147-B9F96BD7D0C4}" destId="{7579F54E-DD1A-604A-9DBA-D508F46046B6}" srcOrd="0" destOrd="0" presId="urn:microsoft.com/office/officeart/2005/8/layout/hList1"/>
    <dgm:cxn modelId="{E1DE89EB-E203-F34A-BB6D-44E36429027A}" srcId="{E73E6D74-0999-C14E-BA55-8AFC2D9F2527}" destId="{C8C0D167-55DA-A24D-843E-23577860E08A}" srcOrd="2" destOrd="0" parTransId="{41F189E6-1466-6F45-933C-E6590BD304FB}" sibTransId="{EDE212AD-45FC-B14D-B01B-17B11C2320F8}"/>
    <dgm:cxn modelId="{E387E706-AC58-5946-B871-E4527052BDB0}" type="presParOf" srcId="{F2197A99-28F7-DD4C-92D1-6581ECFE696D}" destId="{36F545BD-2180-F746-8E75-213C205F3F9F}" srcOrd="0" destOrd="0" presId="urn:microsoft.com/office/officeart/2005/8/layout/hList1"/>
    <dgm:cxn modelId="{64DD007F-1A4C-3B44-ACA6-3353B82E1AEA}" type="presParOf" srcId="{36F545BD-2180-F746-8E75-213C205F3F9F}" destId="{CCCC7FA5-38FF-F044-B2B0-16CE4DE87DA4}" srcOrd="0" destOrd="0" presId="urn:microsoft.com/office/officeart/2005/8/layout/hList1"/>
    <dgm:cxn modelId="{F30B60CA-3E62-0D47-8F91-547B3F15FA77}" type="presParOf" srcId="{36F545BD-2180-F746-8E75-213C205F3F9F}" destId="{F6CC14B3-F702-9748-B95B-A18280B98653}" srcOrd="1" destOrd="0" presId="urn:microsoft.com/office/officeart/2005/8/layout/hList1"/>
    <dgm:cxn modelId="{F774CED0-1759-9642-AA2D-0E748EE02C28}" type="presParOf" srcId="{F2197A99-28F7-DD4C-92D1-6581ECFE696D}" destId="{E3540738-D418-5C4A-BE8C-E6D8571C4D84}" srcOrd="1" destOrd="0" presId="urn:microsoft.com/office/officeart/2005/8/layout/hList1"/>
    <dgm:cxn modelId="{E89B2BC9-7CCA-2049-8CEB-D0200AF2CDCA}" type="presParOf" srcId="{F2197A99-28F7-DD4C-92D1-6581ECFE696D}" destId="{3189FD35-AD82-654A-9BF2-8EA47D7544F5}" srcOrd="2" destOrd="0" presId="urn:microsoft.com/office/officeart/2005/8/layout/hList1"/>
    <dgm:cxn modelId="{6B9DCA61-5C17-D349-958E-0BA199725BE7}" type="presParOf" srcId="{3189FD35-AD82-654A-9BF2-8EA47D7544F5}" destId="{7579F54E-DD1A-604A-9DBA-D508F46046B6}" srcOrd="0" destOrd="0" presId="urn:microsoft.com/office/officeart/2005/8/layout/hList1"/>
    <dgm:cxn modelId="{AA4243FF-E154-9C4A-AA40-101E8B023B1C}" type="presParOf" srcId="{3189FD35-AD82-654A-9BF2-8EA47D7544F5}" destId="{61AD669F-48CB-754F-B28D-EC54690E1141}" srcOrd="1" destOrd="0" presId="urn:microsoft.com/office/officeart/2005/8/layout/hList1"/>
    <dgm:cxn modelId="{2C6C4A41-7A9D-BB4E-BBFE-4F590A7D40BD}" type="presParOf" srcId="{F2197A99-28F7-DD4C-92D1-6581ECFE696D}" destId="{182A09D1-FE70-5344-8C67-30971CDBFB43}" srcOrd="3" destOrd="0" presId="urn:microsoft.com/office/officeart/2005/8/layout/hList1"/>
    <dgm:cxn modelId="{8322BA78-AE6D-7743-9214-51623D6C4297}" type="presParOf" srcId="{F2197A99-28F7-DD4C-92D1-6581ECFE696D}" destId="{A72BB1EB-4A99-F44F-96DD-E56F7EA6B170}" srcOrd="4" destOrd="0" presId="urn:microsoft.com/office/officeart/2005/8/layout/hList1"/>
    <dgm:cxn modelId="{7BDE12AF-5599-0C44-8B52-D152FCBA4548}" type="presParOf" srcId="{A72BB1EB-4A99-F44F-96DD-E56F7EA6B170}" destId="{C6D52947-C27E-4A43-85C2-0AD3B57989A5}" srcOrd="0" destOrd="0" presId="urn:microsoft.com/office/officeart/2005/8/layout/hList1"/>
    <dgm:cxn modelId="{65E87587-1D22-7D47-98D4-D7BABB2E6B42}" type="presParOf" srcId="{A72BB1EB-4A99-F44F-96DD-E56F7EA6B170}" destId="{5CF1C3EA-E1A5-534D-907C-89EB9A51B5E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543A32-0817-DE43-8468-4F0676664CEB}">
      <dsp:nvSpPr>
        <dsp:cNvPr id="0" name=""/>
        <dsp:cNvSpPr/>
      </dsp:nvSpPr>
      <dsp:spPr>
        <a:xfrm>
          <a:off x="0" y="739957"/>
          <a:ext cx="8355111" cy="103772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None/>
          </a:pPr>
          <a:r>
            <a:rPr lang="en-US" sz="1800" kern="1200" dirty="0"/>
            <a:t>This study provides the first systematic evaluation of </a:t>
          </a:r>
          <a:r>
            <a:rPr lang="en-US" sz="1800" kern="1200" dirty="0" err="1"/>
            <a:t>MetaSeal</a:t>
          </a:r>
          <a:r>
            <a:rPr lang="en-US" sz="1800" kern="1200" dirty="0"/>
            <a:t> under spatial manipulations, identifying critical vulnerabilities to centre-cropping (10–25% area removal threshold), rotation (above 5°), and horizontal flipping.</a:t>
          </a:r>
        </a:p>
      </dsp:txBody>
      <dsp:txXfrm>
        <a:off x="50658" y="790615"/>
        <a:ext cx="8253795" cy="936408"/>
      </dsp:txXfrm>
    </dsp:sp>
    <dsp:sp modelId="{1DF918B2-A364-8A4D-9280-53DC6AA0C331}">
      <dsp:nvSpPr>
        <dsp:cNvPr id="0" name=""/>
        <dsp:cNvSpPr/>
      </dsp:nvSpPr>
      <dsp:spPr>
        <a:xfrm>
          <a:off x="0" y="2059874"/>
          <a:ext cx="8355111" cy="113939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None/>
          </a:pPr>
          <a:r>
            <a:rPr lang="en-US" sz="1800" b="0" kern="1200" dirty="0"/>
            <a:t>This delivers the first large-scale experimental proof that </a:t>
          </a:r>
          <a:r>
            <a:rPr lang="en-US" sz="1800" b="0" kern="1200" dirty="0" err="1"/>
            <a:t>MetaSeal's</a:t>
          </a:r>
          <a:r>
            <a:rPr lang="en-US" sz="1800" b="0" kern="1200" dirty="0"/>
            <a:t> content-dependent design successfully resists transferable forgery via semantic averaging at a scale of N = 1,000 images. </a:t>
          </a:r>
        </a:p>
      </dsp:txBody>
      <dsp:txXfrm>
        <a:off x="55621" y="2115495"/>
        <a:ext cx="8243869" cy="1028156"/>
      </dsp:txXfrm>
    </dsp:sp>
    <dsp:sp modelId="{D5F5AC12-990D-184C-9199-6FA268570908}">
      <dsp:nvSpPr>
        <dsp:cNvPr id="0" name=""/>
        <dsp:cNvSpPr/>
      </dsp:nvSpPr>
      <dsp:spPr>
        <a:xfrm>
          <a:off x="0" y="3404239"/>
          <a:ext cx="8355111" cy="118422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l" defTabSz="800100">
            <a:lnSpc>
              <a:spcPct val="90000"/>
            </a:lnSpc>
            <a:spcBef>
              <a:spcPct val="0"/>
            </a:spcBef>
            <a:spcAft>
              <a:spcPct val="35000"/>
            </a:spcAft>
            <a:buNone/>
          </a:pPr>
          <a:r>
            <a:rPr lang="en-US" sz="1800" b="0" kern="1200" dirty="0"/>
            <a:t>Pinpoints the </a:t>
          </a:r>
          <a:r>
            <a:rPr lang="en-US" sz="1800" b="0" kern="1200" dirty="0" err="1"/>
            <a:t>ZBar</a:t>
          </a:r>
          <a:r>
            <a:rPr lang="en-US" sz="1800" b="0" kern="1200" dirty="0"/>
            <a:t>-based QR decoding layer as the primary point of failure under geometric attacks, indicating that future robustness improvements only require upgrading the spatial payload carrier rather than the entire cryptographic pipeline.</a:t>
          </a:r>
        </a:p>
      </dsp:txBody>
      <dsp:txXfrm>
        <a:off x="57809" y="3462048"/>
        <a:ext cx="8239493" cy="10686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CC7FA5-38FF-F044-B2B0-16CE4DE87DA4}">
      <dsp:nvSpPr>
        <dsp:cNvPr id="0" name=""/>
        <dsp:cNvSpPr/>
      </dsp:nvSpPr>
      <dsp:spPr>
        <a:xfrm>
          <a:off x="2722" y="13914"/>
          <a:ext cx="2654732" cy="10080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b="1" kern="1200" dirty="0"/>
            <a:t>Evaluate Compound and Adaptive Attacks</a:t>
          </a:r>
          <a:endParaRPr lang="en-US" sz="2000" kern="1200" dirty="0"/>
        </a:p>
      </dsp:txBody>
      <dsp:txXfrm>
        <a:off x="2722" y="13914"/>
        <a:ext cx="2654732" cy="1008000"/>
      </dsp:txXfrm>
    </dsp:sp>
    <dsp:sp modelId="{F6CC14B3-F702-9748-B95B-A18280B98653}">
      <dsp:nvSpPr>
        <dsp:cNvPr id="0" name=""/>
        <dsp:cNvSpPr/>
      </dsp:nvSpPr>
      <dsp:spPr>
        <a:xfrm>
          <a:off x="2722" y="1021914"/>
          <a:ext cx="2654732" cy="201757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ctr" defTabSz="711200">
            <a:lnSpc>
              <a:spcPct val="90000"/>
            </a:lnSpc>
            <a:spcBef>
              <a:spcPct val="0"/>
            </a:spcBef>
            <a:spcAft>
              <a:spcPct val="15000"/>
            </a:spcAft>
            <a:buNone/>
          </a:pPr>
          <a:r>
            <a:rPr lang="en-US" sz="1600" kern="1200" dirty="0" err="1"/>
            <a:t>MetaSeal</a:t>
          </a:r>
          <a:r>
            <a:rPr lang="en-US" sz="1600" kern="1200" dirty="0"/>
            <a:t> against combined transformations (e.g., simultaneous cropping and rotation) and adaptive attacks that dynamically target specific watermark regions based on image content.</a:t>
          </a:r>
        </a:p>
      </dsp:txBody>
      <dsp:txXfrm>
        <a:off x="2722" y="1021914"/>
        <a:ext cx="2654732" cy="2017575"/>
      </dsp:txXfrm>
    </dsp:sp>
    <dsp:sp modelId="{7579F54E-DD1A-604A-9DBA-D508F46046B6}">
      <dsp:nvSpPr>
        <dsp:cNvPr id="0" name=""/>
        <dsp:cNvSpPr/>
      </dsp:nvSpPr>
      <dsp:spPr>
        <a:xfrm>
          <a:off x="3029117" y="13914"/>
          <a:ext cx="2654732" cy="10080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b="1" kern="1200" dirty="0"/>
            <a:t>Scale Semantic Averaging Tests</a:t>
          </a:r>
          <a:endParaRPr lang="en-US" sz="2000" kern="1200" dirty="0"/>
        </a:p>
      </dsp:txBody>
      <dsp:txXfrm>
        <a:off x="3029117" y="13914"/>
        <a:ext cx="2654732" cy="1008000"/>
      </dsp:txXfrm>
    </dsp:sp>
    <dsp:sp modelId="{61AD669F-48CB-754F-B28D-EC54690E1141}">
      <dsp:nvSpPr>
        <dsp:cNvPr id="0" name=""/>
        <dsp:cNvSpPr/>
      </dsp:nvSpPr>
      <dsp:spPr>
        <a:xfrm>
          <a:off x="3029117" y="1021914"/>
          <a:ext cx="2654732" cy="201757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ctr" defTabSz="711200">
            <a:lnSpc>
              <a:spcPct val="90000"/>
            </a:lnSpc>
            <a:spcBef>
              <a:spcPct val="0"/>
            </a:spcBef>
            <a:spcAft>
              <a:spcPct val="15000"/>
            </a:spcAft>
            <a:buNone/>
          </a:pPr>
          <a:r>
            <a:rPr lang="en-US" sz="1600" kern="1200" dirty="0"/>
            <a:t>Expand the semantic averaging experiments to cluster sizes of 5,000 or 10,000 using the full </a:t>
          </a:r>
          <a:r>
            <a:rPr lang="en-US" sz="1600" kern="1200" dirty="0" err="1"/>
            <a:t>CelebA</a:t>
          </a:r>
          <a:r>
            <a:rPr lang="en-US" sz="1600" kern="1200" dirty="0"/>
            <a:t>-HQ dataset to verify if the zero-residual convergence holds at extreme scales.</a:t>
          </a:r>
        </a:p>
      </dsp:txBody>
      <dsp:txXfrm>
        <a:off x="3029117" y="1021914"/>
        <a:ext cx="2654732" cy="2017575"/>
      </dsp:txXfrm>
    </dsp:sp>
    <dsp:sp modelId="{C6D52947-C27E-4A43-85C2-0AD3B57989A5}">
      <dsp:nvSpPr>
        <dsp:cNvPr id="0" name=""/>
        <dsp:cNvSpPr/>
      </dsp:nvSpPr>
      <dsp:spPr>
        <a:xfrm>
          <a:off x="6055512" y="13914"/>
          <a:ext cx="2654732" cy="10080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b="1" kern="1200" dirty="0"/>
            <a:t>Conduct Studies With Different Kinds of Image Datasets</a:t>
          </a:r>
          <a:endParaRPr lang="en-US" sz="2000" kern="1200" dirty="0"/>
        </a:p>
      </dsp:txBody>
      <dsp:txXfrm>
        <a:off x="6055512" y="13914"/>
        <a:ext cx="2654732" cy="1008000"/>
      </dsp:txXfrm>
    </dsp:sp>
    <dsp:sp modelId="{5CF1C3EA-E1A5-534D-907C-89EB9A51B5E0}">
      <dsp:nvSpPr>
        <dsp:cNvPr id="0" name=""/>
        <dsp:cNvSpPr/>
      </dsp:nvSpPr>
      <dsp:spPr>
        <a:xfrm>
          <a:off x="6055512" y="1021914"/>
          <a:ext cx="2654732" cy="201757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ctr" defTabSz="711200">
            <a:lnSpc>
              <a:spcPct val="90000"/>
            </a:lnSpc>
            <a:spcBef>
              <a:spcPct val="0"/>
            </a:spcBef>
            <a:spcAft>
              <a:spcPct val="15000"/>
            </a:spcAft>
            <a:buNone/>
          </a:pPr>
          <a:r>
            <a:rPr lang="en-US" sz="1600" kern="1200" dirty="0"/>
            <a:t>Apply the experimental protocol to diverse image domains such as natural scenes (e.g., DIV2K) and documents, to determine if spatial fragility thresholds behave differently than they do in face portraits.</a:t>
          </a:r>
        </a:p>
      </dsp:txBody>
      <dsp:txXfrm>
        <a:off x="6055512" y="1021914"/>
        <a:ext cx="2654732" cy="2017575"/>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2" tIns="46587" rIns="93172" bIns="46587" rtlCol="0"/>
          <a:lstStyle>
            <a:lvl1pPr algn="l">
              <a:defRPr sz="1200"/>
            </a:lvl1pPr>
          </a:lstStyle>
          <a:p>
            <a:endParaRPr lang="en-GB" dirty="0"/>
          </a:p>
        </p:txBody>
      </p:sp>
      <p:sp>
        <p:nvSpPr>
          <p:cNvPr id="3" name="Date Placeholder 2"/>
          <p:cNvSpPr>
            <a:spLocks noGrp="1"/>
          </p:cNvSpPr>
          <p:nvPr>
            <p:ph type="dt" idx="1"/>
          </p:nvPr>
        </p:nvSpPr>
        <p:spPr>
          <a:xfrm>
            <a:off x="3970938" y="0"/>
            <a:ext cx="3037840" cy="464820"/>
          </a:xfrm>
          <a:prstGeom prst="rect">
            <a:avLst/>
          </a:prstGeom>
        </p:spPr>
        <p:txBody>
          <a:bodyPr vert="horz" lIns="93172" tIns="46587" rIns="93172" bIns="46587" rtlCol="0"/>
          <a:lstStyle>
            <a:lvl1pPr algn="r">
              <a:defRPr sz="1200"/>
            </a:lvl1pPr>
          </a:lstStyle>
          <a:p>
            <a:fld id="{7F34A9D9-07E7-40B1-82C0-35D5A1851A62}" type="datetimeFigureOut">
              <a:rPr lang="en-GB" smtClean="0"/>
              <a:t>19/06/2026</a:t>
            </a:fld>
            <a:endParaRPr lang="en-GB" dirty="0"/>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2" tIns="46587" rIns="93172" bIns="46587" rtlCol="0" anchor="ctr"/>
          <a:lstStyle/>
          <a:p>
            <a:endParaRPr lang="en-GB"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2" tIns="46587" rIns="93172" bIns="4658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9967"/>
            <a:ext cx="3037840" cy="464820"/>
          </a:xfrm>
          <a:prstGeom prst="rect">
            <a:avLst/>
          </a:prstGeom>
        </p:spPr>
        <p:txBody>
          <a:bodyPr vert="horz" lIns="93172" tIns="46587" rIns="93172" bIns="46587" rtlCol="0" anchor="b"/>
          <a:lstStyle>
            <a:lvl1pPr algn="l">
              <a:defRPr sz="1200"/>
            </a:lvl1pPr>
          </a:lstStyle>
          <a:p>
            <a:endParaRPr lang="en-GB"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2" tIns="46587" rIns="93172" bIns="46587" rtlCol="0" anchor="b"/>
          <a:lstStyle>
            <a:lvl1pPr algn="r">
              <a:defRPr sz="1200"/>
            </a:lvl1pPr>
          </a:lstStyle>
          <a:p>
            <a:fld id="{DB5E19A0-EDAB-41BF-AF21-EA681AC67A65}" type="slidenum">
              <a:rPr lang="en-GB" smtClean="0"/>
              <a:t>‹#›</a:t>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2</a:t>
            </a:fld>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3</a:t>
            </a:fld>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4</a:t>
            </a:fld>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5</a:t>
            </a:fld>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6</a:t>
            </a:fld>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7</a:t>
            </a:fld>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8</a:t>
            </a:fld>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9</a:t>
            </a:fld>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10</a:t>
            </a:fld>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11</a:t>
            </a:fld>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12</a:t>
            </a:fld>
            <a:endParaRPr lang="en-GB" dirty="0"/>
          </a:p>
        </p:txBody>
      </p:sp>
    </p:spTree>
    <p:extLst>
      <p:ext uri="{BB962C8B-B14F-4D97-AF65-F5344CB8AC3E}">
        <p14:creationId xmlns:p14="http://schemas.microsoft.com/office/powerpoint/2010/main" val="1306065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13</a:t>
            </a:fld>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14</a:t>
            </a:fld>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15</a:t>
            </a:fld>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16</a:t>
            </a:fld>
            <a:endParaRPr lang="en-GB"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17</a:t>
            </a:fld>
            <a:endParaRPr lang="en-GB"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18</a:t>
            </a:fld>
            <a:endParaRPr lang="en-GB" dirty="0"/>
          </a:p>
        </p:txBody>
      </p:sp>
    </p:spTree>
    <p:extLst>
      <p:ext uri="{BB962C8B-B14F-4D97-AF65-F5344CB8AC3E}">
        <p14:creationId xmlns:p14="http://schemas.microsoft.com/office/powerpoint/2010/main" val="19378728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19</a:t>
            </a:fld>
            <a:endParaRPr lang="en-GB"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20</a:t>
            </a:fld>
            <a:endParaRPr lang="en-GB"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21</a:t>
            </a:fld>
            <a:endParaRPr lang="en-GB"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22</a:t>
            </a:fld>
            <a:endParaRPr lang="en-GB"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23</a:t>
            </a:fld>
            <a:endParaRPr lang="en-GB"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24</a:t>
            </a:fld>
            <a:endParaRPr lang="en-GB"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25</a:t>
            </a:fld>
            <a:endParaRPr lang="en-GB"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E19A0-EDAB-41BF-AF21-EA681AC67A65}" type="slidenum">
              <a:rPr lang="en-GB" smtClean="0"/>
              <a:t>26</a:t>
            </a:fld>
            <a:endParaRPr lang="en-GB" dirty="0"/>
          </a:p>
        </p:txBody>
      </p:sp>
    </p:spTree>
    <p:extLst>
      <p:ext uri="{BB962C8B-B14F-4D97-AF65-F5344CB8AC3E}">
        <p14:creationId xmlns:p14="http://schemas.microsoft.com/office/powerpoint/2010/main" val="41673787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28" name="Picture 4" descr="Related image"/>
          <p:cNvPicPr>
            <a:picLocks noChangeAspect="1" noChangeArrowheads="1"/>
          </p:cNvPicPr>
          <p:nvPr userDrawn="1"/>
        </p:nvPicPr>
        <p:blipFill rotWithShape="1">
          <a:blip r:embed="rId2">
            <a:duotone>
              <a:prstClr val="black"/>
              <a:schemeClr val="accent4">
                <a:tint val="45000"/>
                <a:satMod val="400000"/>
              </a:schemeClr>
            </a:duotone>
            <a:extLst>
              <a:ext uri="{28A0092B-C50C-407E-A947-70E740481C1C}">
                <a14:useLocalDpi xmlns:a14="http://schemas.microsoft.com/office/drawing/2010/main" val="0"/>
              </a:ext>
            </a:extLst>
          </a:blip>
          <a:srcRect t="4858" r="927" b="24157"/>
          <a:stretch>
            <a:fillRect/>
          </a:stretch>
        </p:blipFill>
        <p:spPr bwMode="auto">
          <a:xfrm>
            <a:off x="-8324" y="-20537"/>
            <a:ext cx="9152327" cy="25922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85802" y="2571755"/>
            <a:ext cx="7772400" cy="1102519"/>
          </a:xfrm>
          <a:solidFill>
            <a:srgbClr val="FFFFFF">
              <a:alpha val="52157"/>
            </a:srgbClr>
          </a:solidFill>
        </p:spPr>
        <p:txBody>
          <a:bodyPr>
            <a:normAutofit/>
          </a:bodyPr>
          <a:lstStyle>
            <a:lvl1pPr>
              <a:defRPr sz="4000" b="1">
                <a:solidFill>
                  <a:srgbClr val="460046"/>
                </a:solidFill>
                <a:latin typeface="Merriweather" panose="00000500000000000000" pitchFamily="2" charset="0"/>
              </a:defRPr>
            </a:lvl1pPr>
          </a:lstStyle>
          <a:p>
            <a:r>
              <a:rPr lang="en-US" dirty="0"/>
              <a:t>Click to edit Master title style</a:t>
            </a:r>
            <a:endParaRPr lang="en-GB" dirty="0"/>
          </a:p>
        </p:txBody>
      </p:sp>
      <p:sp>
        <p:nvSpPr>
          <p:cNvPr id="3" name="Subtitle 2"/>
          <p:cNvSpPr>
            <a:spLocks noGrp="1"/>
          </p:cNvSpPr>
          <p:nvPr>
            <p:ph type="subTitle" idx="1"/>
          </p:nvPr>
        </p:nvSpPr>
        <p:spPr>
          <a:xfrm>
            <a:off x="1371600" y="3727971"/>
            <a:ext cx="6400800" cy="738386"/>
          </a:xfrm>
        </p:spPr>
        <p:txBody>
          <a:bodyPr>
            <a:normAutofit/>
          </a:bodyPr>
          <a:lstStyle>
            <a:lvl1pPr marL="0" indent="0" algn="ctr">
              <a:buNone/>
              <a:defRPr sz="2000" b="1">
                <a:solidFill>
                  <a:srgbClr val="460046"/>
                </a:solidFill>
                <a:latin typeface="Merriweather" panose="00000500000000000000"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6" name="Oval 5"/>
          <p:cNvSpPr/>
          <p:nvPr userDrawn="1"/>
        </p:nvSpPr>
        <p:spPr>
          <a:xfrm>
            <a:off x="3779913" y="843558"/>
            <a:ext cx="1295339" cy="1295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dirty="0"/>
          </a:p>
        </p:txBody>
      </p:sp>
      <p:pic>
        <p:nvPicPr>
          <p:cNvPr id="7" name="Picture 2" descr="CU Logo"/>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019462" y="1060538"/>
            <a:ext cx="816244" cy="8613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pattFill prst="pct5">
          <a:fgClr>
            <a:srgbClr val="460046"/>
          </a:fgClr>
          <a:bgClr>
            <a:schemeClr val="bg1"/>
          </a:bgClr>
        </a:pattFill>
        <a:effectLst/>
      </p:bgPr>
    </p:bg>
    <p:spTree>
      <p:nvGrpSpPr>
        <p:cNvPr id="1" name=""/>
        <p:cNvGrpSpPr/>
        <p:nvPr/>
      </p:nvGrpSpPr>
      <p:grpSpPr>
        <a:xfrm>
          <a:off x="0" y="0"/>
          <a:ext cx="0" cy="0"/>
          <a:chOff x="0" y="0"/>
          <a:chExt cx="0" cy="0"/>
        </a:xfrm>
      </p:grpSpPr>
      <p:pic>
        <p:nvPicPr>
          <p:cNvPr id="1028" name="Picture 4" descr="Related image"/>
          <p:cNvPicPr>
            <a:picLocks noChangeAspect="1" noChangeArrowheads="1"/>
          </p:cNvPicPr>
          <p:nvPr userDrawn="1"/>
        </p:nvPicPr>
        <p:blipFill rotWithShape="1">
          <a:blip r:embed="rId2">
            <a:duotone>
              <a:prstClr val="black"/>
              <a:schemeClr val="accent4">
                <a:tint val="45000"/>
                <a:satMod val="400000"/>
              </a:schemeClr>
            </a:duotone>
            <a:extLst>
              <a:ext uri="{28A0092B-C50C-407E-A947-70E740481C1C}">
                <a14:useLocalDpi xmlns:a14="http://schemas.microsoft.com/office/drawing/2010/main" val="0"/>
              </a:ext>
            </a:extLst>
          </a:blip>
          <a:srcRect l="9806" t="4858" r="15799" b="9187"/>
          <a:stretch>
            <a:fillRect/>
          </a:stretch>
        </p:blipFill>
        <p:spPr bwMode="auto">
          <a:xfrm>
            <a:off x="-1" y="486238"/>
            <a:ext cx="9144002" cy="417646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85800" y="3435851"/>
            <a:ext cx="7772400" cy="1102519"/>
          </a:xfrm>
          <a:solidFill>
            <a:srgbClr val="FFFFFF">
              <a:alpha val="52157"/>
            </a:srgbClr>
          </a:solidFill>
        </p:spPr>
        <p:txBody>
          <a:bodyPr>
            <a:normAutofit/>
          </a:bodyPr>
          <a:lstStyle>
            <a:lvl1pPr>
              <a:defRPr sz="4000" b="1">
                <a:solidFill>
                  <a:srgbClr val="460046"/>
                </a:solidFill>
                <a:latin typeface="Merriweather" panose="00000500000000000000" pitchFamily="2" charset="0"/>
              </a:defRPr>
            </a:lvl1pPr>
          </a:lstStyle>
          <a:p>
            <a:r>
              <a:rPr lang="en-US" dirty="0"/>
              <a:t>Click to edit Master title style</a:t>
            </a:r>
            <a:endParaRPr lang="en-GB" dirty="0"/>
          </a:p>
        </p:txBody>
      </p:sp>
      <p:grpSp>
        <p:nvGrpSpPr>
          <p:cNvPr id="4" name="Group 3"/>
          <p:cNvGrpSpPr/>
          <p:nvPr userDrawn="1"/>
        </p:nvGrpSpPr>
        <p:grpSpPr>
          <a:xfrm>
            <a:off x="3707906" y="605140"/>
            <a:ext cx="1295339" cy="1295339"/>
            <a:chOff x="4187484" y="305631"/>
            <a:chExt cx="3280116" cy="3280116"/>
          </a:xfrm>
        </p:grpSpPr>
        <p:sp>
          <p:nvSpPr>
            <p:cNvPr id="5" name="Oval 4"/>
            <p:cNvSpPr/>
            <p:nvPr userDrawn="1"/>
          </p:nvSpPr>
          <p:spPr>
            <a:xfrm>
              <a:off x="4187484" y="305631"/>
              <a:ext cx="3280116" cy="32801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dirty="0"/>
            </a:p>
          </p:txBody>
        </p:sp>
        <p:pic>
          <p:nvPicPr>
            <p:cNvPr id="6" name="Picture 2" descr="CU Logo"/>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794080" y="855077"/>
              <a:ext cx="2066925" cy="2181225"/>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4" descr="Related image"/>
          <p:cNvPicPr>
            <a:picLocks noChangeAspect="1" noChangeArrowheads="1"/>
          </p:cNvPicPr>
          <p:nvPr userDrawn="1"/>
        </p:nvPicPr>
        <p:blipFill rotWithShape="1">
          <a:blip r:embed="rId2">
            <a:duotone>
              <a:prstClr val="black"/>
              <a:schemeClr val="accent4">
                <a:tint val="45000"/>
                <a:satMod val="400000"/>
              </a:schemeClr>
            </a:duotone>
            <a:extLst>
              <a:ext uri="{28A0092B-C50C-407E-A947-70E740481C1C}">
                <a14:useLocalDpi xmlns:a14="http://schemas.microsoft.com/office/drawing/2010/main" val="0"/>
              </a:ext>
            </a:extLst>
          </a:blip>
          <a:srcRect l="586" t="69231" r="342" b="17546"/>
          <a:stretch>
            <a:fillRect/>
          </a:stretch>
        </p:blipFill>
        <p:spPr bwMode="auto">
          <a:xfrm>
            <a:off x="-5468" y="4681182"/>
            <a:ext cx="9152327" cy="48285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251521" y="205979"/>
            <a:ext cx="8136905" cy="857250"/>
          </a:xfrm>
        </p:spPr>
        <p:txBody>
          <a:bodyPr>
            <a:normAutofit/>
          </a:bodyPr>
          <a:lstStyle>
            <a:lvl1pPr algn="l">
              <a:defRPr sz="3200" b="1">
                <a:solidFill>
                  <a:srgbClr val="460046"/>
                </a:solidFill>
                <a:latin typeface="Merriweather" panose="00000500000000000000" pitchFamily="2" charset="0"/>
              </a:defRPr>
            </a:lvl1pPr>
          </a:lstStyle>
          <a:p>
            <a:r>
              <a:rPr lang="en-US" dirty="0"/>
              <a:t>Click to edit Master title style</a:t>
            </a:r>
            <a:endParaRPr lang="en-GB" dirty="0"/>
          </a:p>
        </p:txBody>
      </p:sp>
      <p:sp>
        <p:nvSpPr>
          <p:cNvPr id="3" name="Content Placeholder 2"/>
          <p:cNvSpPr>
            <a:spLocks noGrp="1"/>
          </p:cNvSpPr>
          <p:nvPr>
            <p:ph idx="1"/>
          </p:nvPr>
        </p:nvSpPr>
        <p:spPr>
          <a:xfrm>
            <a:off x="251520" y="1200151"/>
            <a:ext cx="8640960" cy="3394472"/>
          </a:xfrm>
        </p:spPr>
        <p:txBody>
          <a:bodyPr anchor="ctr">
            <a:normAutofit/>
          </a:bodyPr>
          <a:lstStyle>
            <a:lvl1pPr marL="342900" indent="-342900">
              <a:lnSpc>
                <a:spcPct val="114000"/>
              </a:lnSpc>
              <a:spcBef>
                <a:spcPts val="500"/>
              </a:spcBef>
              <a:buFont typeface="Wingdings" panose="05000000000000000000" pitchFamily="2" charset="2"/>
              <a:buChar char="§"/>
              <a:defRPr sz="2400">
                <a:latin typeface="Roboto" panose="02000000000000000000" pitchFamily="2" charset="0"/>
                <a:ea typeface="Roboto" panose="02000000000000000000" pitchFamily="2" charset="0"/>
              </a:defRPr>
            </a:lvl1pPr>
            <a:lvl2pPr marL="742950" indent="-285750">
              <a:lnSpc>
                <a:spcPct val="114000"/>
              </a:lnSpc>
              <a:spcBef>
                <a:spcPts val="500"/>
              </a:spcBef>
              <a:buFont typeface="Wingdings" panose="05000000000000000000" pitchFamily="2" charset="2"/>
              <a:buChar char="§"/>
              <a:defRPr sz="2000">
                <a:solidFill>
                  <a:srgbClr val="C00000"/>
                </a:solidFill>
                <a:latin typeface="Roboto" panose="02000000000000000000" pitchFamily="2" charset="0"/>
                <a:ea typeface="Roboto" panose="02000000000000000000" pitchFamily="2" charset="0"/>
              </a:defRPr>
            </a:lvl2pPr>
            <a:lvl3pPr marL="1143000" indent="-228600">
              <a:lnSpc>
                <a:spcPct val="114000"/>
              </a:lnSpc>
              <a:spcBef>
                <a:spcPts val="500"/>
              </a:spcBef>
              <a:buFont typeface="Wingdings" panose="05000000000000000000" pitchFamily="2" charset="2"/>
              <a:buChar char="§"/>
              <a:defRPr sz="1800">
                <a:solidFill>
                  <a:srgbClr val="460046"/>
                </a:solidFill>
                <a:latin typeface="Roboto" panose="02000000000000000000" pitchFamily="2" charset="0"/>
                <a:ea typeface="Roboto" panose="02000000000000000000" pitchFamily="2" charset="0"/>
              </a:defRPr>
            </a:lvl3pPr>
            <a:lvl4pPr marL="1600200" indent="-228600">
              <a:lnSpc>
                <a:spcPct val="114000"/>
              </a:lnSpc>
              <a:spcBef>
                <a:spcPts val="500"/>
              </a:spcBef>
              <a:buFont typeface="Wingdings" panose="05000000000000000000" pitchFamily="2" charset="2"/>
              <a:buChar char="§"/>
              <a:defRPr sz="1600">
                <a:solidFill>
                  <a:srgbClr val="161B0B"/>
                </a:solidFill>
                <a:latin typeface="Roboto" panose="02000000000000000000" pitchFamily="2" charset="0"/>
                <a:ea typeface="Roboto" panose="02000000000000000000" pitchFamily="2" charset="0"/>
              </a:defRPr>
            </a:lvl4pPr>
            <a:lvl5pPr marL="2057400" indent="-228600">
              <a:lnSpc>
                <a:spcPct val="114000"/>
              </a:lnSpc>
              <a:spcBef>
                <a:spcPts val="500"/>
              </a:spcBef>
              <a:buFont typeface="Symbol" panose="05050102010706020507" pitchFamily="18" charset="2"/>
              <a:buChar char="-"/>
              <a:defRPr sz="1600">
                <a:solidFill>
                  <a:schemeClr val="accent6">
                    <a:lumMod val="50000"/>
                  </a:schemeClr>
                </a:solidFill>
                <a:latin typeface="Roboto" panose="02000000000000000000" pitchFamily="2" charset="0"/>
                <a:ea typeface="Roboto"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9" name="Picture 4" descr="Related image"/>
          <p:cNvPicPr>
            <a:picLocks noChangeAspect="1" noChangeArrowheads="1"/>
          </p:cNvPicPr>
          <p:nvPr userDrawn="1"/>
        </p:nvPicPr>
        <p:blipFill rotWithShape="1">
          <a:blip r:embed="rId2">
            <a:duotone>
              <a:prstClr val="black"/>
              <a:schemeClr val="accent4">
                <a:tint val="45000"/>
                <a:satMod val="400000"/>
              </a:schemeClr>
            </a:duotone>
            <a:extLst>
              <a:ext uri="{28A0092B-C50C-407E-A947-70E740481C1C}">
                <a14:useLocalDpi xmlns:a14="http://schemas.microsoft.com/office/drawing/2010/main" val="0"/>
              </a:ext>
            </a:extLst>
          </a:blip>
          <a:srcRect l="-90" t="25565" r="1018" b="67823"/>
          <a:stretch>
            <a:fillRect/>
          </a:stretch>
        </p:blipFill>
        <p:spPr bwMode="auto">
          <a:xfrm>
            <a:off x="-8325" y="-121718"/>
            <a:ext cx="9152327" cy="241428"/>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p:cNvCxnSpPr/>
          <p:nvPr userDrawn="1"/>
        </p:nvCxnSpPr>
        <p:spPr>
          <a:xfrm>
            <a:off x="-8325" y="1059582"/>
            <a:ext cx="4004263" cy="0"/>
          </a:xfrm>
          <a:prstGeom prst="line">
            <a:avLst/>
          </a:prstGeom>
          <a:ln>
            <a:solidFill>
              <a:srgbClr val="4600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8" name="Slide Number Placeholder 5"/>
          <p:cNvSpPr>
            <a:spLocks noGrp="1"/>
          </p:cNvSpPr>
          <p:nvPr>
            <p:ph type="sldNum" sz="quarter" idx="12"/>
          </p:nvPr>
        </p:nvSpPr>
        <p:spPr>
          <a:xfrm>
            <a:off x="8532727" y="202782"/>
            <a:ext cx="576064" cy="856800"/>
          </a:xfrm>
          <a:solidFill>
            <a:srgbClr val="140A0F"/>
          </a:solidFill>
        </p:spPr>
        <p:txBody>
          <a:bodyPr anchor="t"/>
          <a:lstStyle>
            <a:lvl1pPr>
              <a:defRPr sz="1800">
                <a:solidFill>
                  <a:schemeClr val="bg1"/>
                </a:solidFill>
              </a:defRPr>
            </a:lvl1pPr>
          </a:lstStyle>
          <a:p>
            <a:fld id="{B310DB28-467B-42AB-AF30-926E64120C57}" type="slidenum">
              <a:rPr lang="en-GB" smtClean="0"/>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7" name="Picture 4" descr="Related image"/>
          <p:cNvPicPr>
            <a:picLocks noChangeAspect="1" noChangeArrowheads="1"/>
          </p:cNvPicPr>
          <p:nvPr userDrawn="1"/>
        </p:nvPicPr>
        <p:blipFill rotWithShape="1">
          <a:blip r:embed="rId2">
            <a:duotone>
              <a:prstClr val="black"/>
              <a:schemeClr val="accent4">
                <a:tint val="45000"/>
                <a:satMod val="400000"/>
              </a:schemeClr>
            </a:duotone>
            <a:extLst>
              <a:ext uri="{28A0092B-C50C-407E-A947-70E740481C1C}">
                <a14:useLocalDpi xmlns:a14="http://schemas.microsoft.com/office/drawing/2010/main" val="0"/>
              </a:ext>
            </a:extLst>
          </a:blip>
          <a:srcRect l="586" t="69231" r="342" b="17546"/>
          <a:stretch>
            <a:fillRect/>
          </a:stretch>
        </p:blipFill>
        <p:spPr bwMode="auto">
          <a:xfrm>
            <a:off x="-5468" y="4681182"/>
            <a:ext cx="9152327" cy="48285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67544" y="205979"/>
            <a:ext cx="8136905" cy="857250"/>
          </a:xfrm>
        </p:spPr>
        <p:txBody>
          <a:bodyPr>
            <a:normAutofit/>
          </a:bodyPr>
          <a:lstStyle>
            <a:lvl1pPr algn="ctr">
              <a:defRPr sz="3200" b="1">
                <a:solidFill>
                  <a:srgbClr val="460046"/>
                </a:solidFill>
                <a:latin typeface="Merriweather" panose="00000500000000000000" pitchFamily="2" charset="0"/>
              </a:defRPr>
            </a:lvl1pPr>
          </a:lstStyle>
          <a:p>
            <a:r>
              <a:rPr lang="en-US" dirty="0"/>
              <a:t>Click to edit Master title style</a:t>
            </a:r>
            <a:endParaRPr lang="en-GB" dirty="0"/>
          </a:p>
        </p:txBody>
      </p:sp>
      <p:sp>
        <p:nvSpPr>
          <p:cNvPr id="3" name="Content Placeholder 2"/>
          <p:cNvSpPr>
            <a:spLocks noGrp="1"/>
          </p:cNvSpPr>
          <p:nvPr>
            <p:ph idx="1"/>
          </p:nvPr>
        </p:nvSpPr>
        <p:spPr>
          <a:xfrm>
            <a:off x="251520" y="1200151"/>
            <a:ext cx="8640960" cy="3394472"/>
          </a:xfrm>
        </p:spPr>
        <p:txBody>
          <a:bodyPr anchor="ctr">
            <a:normAutofit/>
          </a:bodyPr>
          <a:lstStyle>
            <a:lvl1pPr marL="342900" indent="-342900">
              <a:lnSpc>
                <a:spcPct val="114000"/>
              </a:lnSpc>
              <a:spcBef>
                <a:spcPts val="500"/>
              </a:spcBef>
              <a:buFont typeface="Wingdings" panose="05000000000000000000" pitchFamily="2" charset="2"/>
              <a:buChar char="§"/>
              <a:defRPr sz="2400">
                <a:latin typeface="Roboto" panose="02000000000000000000" pitchFamily="2" charset="0"/>
                <a:ea typeface="Roboto" panose="02000000000000000000" pitchFamily="2" charset="0"/>
              </a:defRPr>
            </a:lvl1pPr>
            <a:lvl2pPr marL="742950" indent="-285750">
              <a:lnSpc>
                <a:spcPct val="114000"/>
              </a:lnSpc>
              <a:spcBef>
                <a:spcPts val="500"/>
              </a:spcBef>
              <a:buFont typeface="Wingdings" panose="05000000000000000000" pitchFamily="2" charset="2"/>
              <a:buChar char="§"/>
              <a:defRPr sz="2000">
                <a:solidFill>
                  <a:srgbClr val="C00000"/>
                </a:solidFill>
                <a:latin typeface="Roboto" panose="02000000000000000000" pitchFamily="2" charset="0"/>
                <a:ea typeface="Roboto" panose="02000000000000000000" pitchFamily="2" charset="0"/>
              </a:defRPr>
            </a:lvl2pPr>
            <a:lvl3pPr marL="1143000" indent="-228600">
              <a:lnSpc>
                <a:spcPct val="114000"/>
              </a:lnSpc>
              <a:spcBef>
                <a:spcPts val="500"/>
              </a:spcBef>
              <a:buFont typeface="Wingdings" panose="05000000000000000000" pitchFamily="2" charset="2"/>
              <a:buChar char="§"/>
              <a:defRPr sz="1800">
                <a:solidFill>
                  <a:srgbClr val="460046"/>
                </a:solidFill>
                <a:latin typeface="Roboto" panose="02000000000000000000" pitchFamily="2" charset="0"/>
                <a:ea typeface="Roboto" panose="02000000000000000000" pitchFamily="2" charset="0"/>
              </a:defRPr>
            </a:lvl3pPr>
            <a:lvl4pPr marL="1600200" indent="-228600">
              <a:lnSpc>
                <a:spcPct val="114000"/>
              </a:lnSpc>
              <a:spcBef>
                <a:spcPts val="500"/>
              </a:spcBef>
              <a:buFont typeface="Wingdings" panose="05000000000000000000" pitchFamily="2" charset="2"/>
              <a:buChar char="§"/>
              <a:defRPr sz="1600">
                <a:solidFill>
                  <a:srgbClr val="161B0B"/>
                </a:solidFill>
                <a:latin typeface="Roboto" panose="02000000000000000000" pitchFamily="2" charset="0"/>
                <a:ea typeface="Roboto" panose="02000000000000000000" pitchFamily="2" charset="0"/>
              </a:defRPr>
            </a:lvl4pPr>
            <a:lvl5pPr marL="2057400" indent="-228600">
              <a:lnSpc>
                <a:spcPct val="114000"/>
              </a:lnSpc>
              <a:spcBef>
                <a:spcPts val="500"/>
              </a:spcBef>
              <a:buFont typeface="Symbol" panose="05050102010706020507" pitchFamily="18" charset="2"/>
              <a:buChar char="-"/>
              <a:defRPr sz="1600">
                <a:solidFill>
                  <a:schemeClr val="accent6">
                    <a:lumMod val="50000"/>
                  </a:schemeClr>
                </a:solidFill>
                <a:latin typeface="Roboto" panose="02000000000000000000" pitchFamily="2" charset="0"/>
                <a:ea typeface="Roboto"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p:cNvSpPr>
            <a:spLocks noGrp="1"/>
          </p:cNvSpPr>
          <p:nvPr>
            <p:ph type="sldNum" sz="quarter" idx="12"/>
          </p:nvPr>
        </p:nvSpPr>
        <p:spPr>
          <a:xfrm>
            <a:off x="8532727" y="4660149"/>
            <a:ext cx="576064" cy="482857"/>
          </a:xfrm>
          <a:solidFill>
            <a:srgbClr val="140A0F"/>
          </a:solidFill>
        </p:spPr>
        <p:txBody>
          <a:bodyPr anchor="t"/>
          <a:lstStyle>
            <a:lvl1pPr>
              <a:defRPr sz="1800">
                <a:solidFill>
                  <a:schemeClr val="bg1"/>
                </a:solidFill>
              </a:defRPr>
            </a:lvl1pPr>
          </a:lstStyle>
          <a:p>
            <a:fld id="{B310DB28-467B-42AB-AF30-926E64120C57}" type="slidenum">
              <a:rPr lang="en-GB" smtClean="0"/>
              <a:t>‹#›</a:t>
            </a:fld>
            <a:endParaRPr lang="en-GB" dirty="0"/>
          </a:p>
        </p:txBody>
      </p:sp>
      <p:pic>
        <p:nvPicPr>
          <p:cNvPr id="9" name="Picture 4" descr="Related image"/>
          <p:cNvPicPr>
            <a:picLocks noChangeAspect="1" noChangeArrowheads="1"/>
          </p:cNvPicPr>
          <p:nvPr userDrawn="1"/>
        </p:nvPicPr>
        <p:blipFill rotWithShape="1">
          <a:blip r:embed="rId2">
            <a:duotone>
              <a:prstClr val="black"/>
              <a:schemeClr val="accent4">
                <a:tint val="45000"/>
                <a:satMod val="400000"/>
              </a:schemeClr>
            </a:duotone>
            <a:extLst>
              <a:ext uri="{28A0092B-C50C-407E-A947-70E740481C1C}">
                <a14:useLocalDpi xmlns:a14="http://schemas.microsoft.com/office/drawing/2010/main" val="0"/>
              </a:ext>
            </a:extLst>
          </a:blip>
          <a:srcRect l="-90" t="25565" r="1018" b="67823"/>
          <a:stretch>
            <a:fillRect/>
          </a:stretch>
        </p:blipFill>
        <p:spPr bwMode="auto">
          <a:xfrm>
            <a:off x="-8325" y="-121718"/>
            <a:ext cx="9152327" cy="241428"/>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p:cNvCxnSpPr/>
          <p:nvPr userDrawn="1"/>
        </p:nvCxnSpPr>
        <p:spPr>
          <a:xfrm>
            <a:off x="2569872" y="1059582"/>
            <a:ext cx="4004263" cy="0"/>
          </a:xfrm>
          <a:prstGeom prst="line">
            <a:avLst/>
          </a:prstGeom>
          <a:ln>
            <a:solidFill>
              <a:srgbClr val="4600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Related image"/>
          <p:cNvPicPr>
            <a:picLocks noChangeAspect="1" noChangeArrowheads="1"/>
          </p:cNvPicPr>
          <p:nvPr userDrawn="1"/>
        </p:nvPicPr>
        <p:blipFill rotWithShape="1">
          <a:blip r:embed="rId2">
            <a:duotone>
              <a:prstClr val="black"/>
              <a:schemeClr val="accent4">
                <a:tint val="45000"/>
                <a:satMod val="400000"/>
              </a:schemeClr>
            </a:duotone>
            <a:extLst>
              <a:ext uri="{28A0092B-C50C-407E-A947-70E740481C1C}">
                <a14:useLocalDpi xmlns:a14="http://schemas.microsoft.com/office/drawing/2010/main" val="0"/>
              </a:ext>
            </a:extLst>
          </a:blip>
          <a:srcRect l="-90" t="25565" r="1018" b="67823"/>
          <a:stretch>
            <a:fillRect/>
          </a:stretch>
        </p:blipFill>
        <p:spPr bwMode="auto">
          <a:xfrm>
            <a:off x="-8325" y="-121718"/>
            <a:ext cx="9152327" cy="241428"/>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a:xfrm>
            <a:off x="8460432" y="4587978"/>
            <a:ext cx="576064" cy="539275"/>
          </a:xfrm>
          <a:solidFill>
            <a:srgbClr val="460046"/>
          </a:solidFill>
        </p:spPr>
        <p:txBody>
          <a:bodyPr anchor="b"/>
          <a:lstStyle>
            <a:lvl1pPr>
              <a:defRPr sz="1800">
                <a:solidFill>
                  <a:schemeClr val="bg1"/>
                </a:solidFill>
              </a:defRPr>
            </a:lvl1pPr>
          </a:lstStyle>
          <a:p>
            <a:fld id="{B310DB28-467B-42AB-AF30-926E64120C57}" type="slidenum">
              <a:rPr lang="en-GB" smtClean="0"/>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1" y="900113"/>
            <a:ext cx="4038601"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900113"/>
            <a:ext cx="4038601"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B310DB28-467B-42AB-AF30-926E64120C57}" type="slidenum">
              <a:rPr lang="en-GB" smtClean="0"/>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0" name="Picture 4" descr="Related image"/>
          <p:cNvPicPr>
            <a:picLocks noChangeAspect="1" noChangeArrowheads="1"/>
          </p:cNvPicPr>
          <p:nvPr userDrawn="1"/>
        </p:nvPicPr>
        <p:blipFill rotWithShape="1">
          <a:blip r:embed="rId2">
            <a:duotone>
              <a:prstClr val="black"/>
              <a:schemeClr val="accent4">
                <a:tint val="45000"/>
                <a:satMod val="400000"/>
              </a:schemeClr>
            </a:duotone>
            <a:extLst>
              <a:ext uri="{28A0092B-C50C-407E-A947-70E740481C1C}">
                <a14:useLocalDpi xmlns:a14="http://schemas.microsoft.com/office/drawing/2010/main" val="0"/>
              </a:ext>
            </a:extLst>
          </a:blip>
          <a:srcRect l="586" t="69231" r="342" b="17546"/>
          <a:stretch>
            <a:fillRect/>
          </a:stretch>
        </p:blipFill>
        <p:spPr bwMode="auto">
          <a:xfrm>
            <a:off x="-5468" y="4681182"/>
            <a:ext cx="9152327" cy="482856"/>
          </a:xfrm>
          <a:prstGeom prst="rect">
            <a:avLst/>
          </a:prstGeom>
          <a:noFill/>
          <a:extLst>
            <a:ext uri="{909E8E84-426E-40DD-AFC4-6F175D3DCCD1}">
              <a14:hiddenFill xmlns:a14="http://schemas.microsoft.com/office/drawing/2010/main">
                <a:solidFill>
                  <a:srgbClr val="FFFFFF"/>
                </a:solidFill>
              </a14:hiddenFill>
            </a:ext>
          </a:extLst>
        </p:spPr>
      </p:pic>
      <p:sp>
        <p:nvSpPr>
          <p:cNvPr id="11" name="Slide Number Placeholder 5"/>
          <p:cNvSpPr txBox="1"/>
          <p:nvPr userDrawn="1"/>
        </p:nvSpPr>
        <p:spPr>
          <a:xfrm>
            <a:off x="8532727" y="4286202"/>
            <a:ext cx="576064" cy="856800"/>
          </a:xfrm>
          <a:prstGeom prst="rect">
            <a:avLst/>
          </a:prstGeom>
          <a:solidFill>
            <a:srgbClr val="140A0F"/>
          </a:solidFill>
        </p:spPr>
        <p:txBody>
          <a:bodyPr vert="horz" lIns="91440" tIns="45721" rIns="91440" bIns="45721" rtlCol="0" anchor="t"/>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310DB28-467B-42AB-AF30-926E64120C57}" type="slidenum">
              <a:rPr lang="en-GB" sz="1800" smtClean="0"/>
              <a:t>‹#›</a:t>
            </a:fld>
            <a:endParaRPr lang="en-GB" sz="1800" dirty="0"/>
          </a:p>
        </p:txBody>
      </p:sp>
      <p:pic>
        <p:nvPicPr>
          <p:cNvPr id="12" name="Picture 4" descr="Related image"/>
          <p:cNvPicPr>
            <a:picLocks noChangeAspect="1" noChangeArrowheads="1"/>
          </p:cNvPicPr>
          <p:nvPr userDrawn="1"/>
        </p:nvPicPr>
        <p:blipFill rotWithShape="1">
          <a:blip r:embed="rId2">
            <a:duotone>
              <a:prstClr val="black"/>
              <a:schemeClr val="accent4">
                <a:tint val="45000"/>
                <a:satMod val="400000"/>
              </a:schemeClr>
            </a:duotone>
            <a:extLst>
              <a:ext uri="{28A0092B-C50C-407E-A947-70E740481C1C}">
                <a14:useLocalDpi xmlns:a14="http://schemas.microsoft.com/office/drawing/2010/main" val="0"/>
              </a:ext>
            </a:extLst>
          </a:blip>
          <a:srcRect l="-90" t="25565" r="1018" b="67823"/>
          <a:stretch>
            <a:fillRect/>
          </a:stretch>
        </p:blipFill>
        <p:spPr bwMode="auto">
          <a:xfrm>
            <a:off x="-8325" y="-121718"/>
            <a:ext cx="9152327" cy="241428"/>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p:cNvSpPr>
            <a:spLocks noGrp="1"/>
          </p:cNvSpPr>
          <p:nvPr>
            <p:ph type="body" idx="1"/>
          </p:nvPr>
        </p:nvSpPr>
        <p:spPr>
          <a:xfrm>
            <a:off x="179515" y="1151335"/>
            <a:ext cx="4317876" cy="479822"/>
          </a:xfrm>
          <a:solidFill>
            <a:schemeClr val="bg1">
              <a:lumMod val="95000"/>
            </a:schemeClr>
          </a:solidFill>
        </p:spPr>
        <p:txBody>
          <a:bodyPr anchor="b">
            <a:normAutofit/>
          </a:bodyPr>
          <a:lstStyle>
            <a:lvl1pPr marL="0" indent="0" algn="ctr">
              <a:buNone/>
              <a:defRPr sz="2000" b="1">
                <a:solidFill>
                  <a:srgbClr val="C00000"/>
                </a:solidFill>
                <a:latin typeface="Merriweather"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79515" y="1631156"/>
            <a:ext cx="4317876" cy="2963466"/>
          </a:xfrm>
        </p:spPr>
        <p:txBody>
          <a:bodyPr>
            <a:normAutofit/>
          </a:bodyPr>
          <a:lstStyle>
            <a:lvl1pPr>
              <a:defRPr sz="2000">
                <a:latin typeface="Roboto" panose="02000000000000000000" pitchFamily="2" charset="0"/>
                <a:ea typeface="Roboto" panose="02000000000000000000" pitchFamily="2" charset="0"/>
              </a:defRPr>
            </a:lvl1pPr>
            <a:lvl2pPr>
              <a:defRPr sz="1800">
                <a:solidFill>
                  <a:srgbClr val="C00000"/>
                </a:solidFill>
                <a:latin typeface="Roboto" panose="02000000000000000000" pitchFamily="2" charset="0"/>
                <a:ea typeface="Roboto" panose="02000000000000000000" pitchFamily="2" charset="0"/>
              </a:defRPr>
            </a:lvl2pPr>
            <a:lvl3pPr>
              <a:defRPr sz="1600">
                <a:solidFill>
                  <a:srgbClr val="002060"/>
                </a:solidFill>
                <a:latin typeface="Roboto" panose="02000000000000000000" pitchFamily="2" charset="0"/>
                <a:ea typeface="Roboto" panose="02000000000000000000" pitchFamily="2" charset="0"/>
              </a:defRPr>
            </a:lvl3pPr>
            <a:lvl4pPr>
              <a:defRPr sz="1400">
                <a:latin typeface="Roboto" panose="02000000000000000000" pitchFamily="2" charset="0"/>
                <a:ea typeface="Roboto" panose="02000000000000000000" pitchFamily="2" charset="0"/>
              </a:defRPr>
            </a:lvl4pPr>
            <a:lvl5pPr>
              <a:defRPr sz="1400">
                <a:latin typeface="Roboto" panose="02000000000000000000" pitchFamily="2" charset="0"/>
                <a:ea typeface="Roboto" panose="02000000000000000000" pitchFamily="2"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645028" y="1151335"/>
            <a:ext cx="4317876" cy="479822"/>
          </a:xfrm>
          <a:solidFill>
            <a:schemeClr val="bg1">
              <a:lumMod val="95000"/>
            </a:schemeClr>
          </a:solidFill>
        </p:spPr>
        <p:txBody>
          <a:bodyPr anchor="b">
            <a:normAutofit/>
          </a:bodyPr>
          <a:lstStyle>
            <a:lvl1pPr marL="0" indent="0" algn="ctr">
              <a:buNone/>
              <a:defRPr sz="2000" b="1">
                <a:solidFill>
                  <a:srgbClr val="C00000"/>
                </a:solidFill>
                <a:latin typeface="Merriweather"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8" y="1631156"/>
            <a:ext cx="4317876" cy="2963466"/>
          </a:xfrm>
        </p:spPr>
        <p:txBody>
          <a:bodyPr>
            <a:normAutofit/>
          </a:bodyPr>
          <a:lstStyle>
            <a:lvl1pPr>
              <a:defRPr sz="2000">
                <a:latin typeface="Roboto" panose="02000000000000000000" pitchFamily="2" charset="0"/>
                <a:ea typeface="Roboto" panose="02000000000000000000" pitchFamily="2" charset="0"/>
              </a:defRPr>
            </a:lvl1pPr>
            <a:lvl2pPr>
              <a:defRPr sz="1800">
                <a:solidFill>
                  <a:srgbClr val="C00000"/>
                </a:solidFill>
                <a:latin typeface="Roboto" panose="02000000000000000000" pitchFamily="2" charset="0"/>
                <a:ea typeface="Roboto" panose="02000000000000000000" pitchFamily="2" charset="0"/>
              </a:defRPr>
            </a:lvl2pPr>
            <a:lvl3pPr>
              <a:defRPr sz="1600">
                <a:solidFill>
                  <a:srgbClr val="002060"/>
                </a:solidFill>
                <a:latin typeface="Roboto" panose="02000000000000000000" pitchFamily="2" charset="0"/>
                <a:ea typeface="Roboto" panose="02000000000000000000" pitchFamily="2" charset="0"/>
              </a:defRPr>
            </a:lvl3pPr>
            <a:lvl4pPr>
              <a:defRPr sz="1400">
                <a:latin typeface="Roboto" panose="02000000000000000000" pitchFamily="2" charset="0"/>
                <a:ea typeface="Roboto" panose="02000000000000000000" pitchFamily="2" charset="0"/>
              </a:defRPr>
            </a:lvl4pPr>
            <a:lvl5pPr>
              <a:defRPr sz="1400">
                <a:latin typeface="Roboto" panose="02000000000000000000" pitchFamily="2" charset="0"/>
                <a:ea typeface="Roboto" panose="02000000000000000000" pitchFamily="2"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4" name="Title 1"/>
          <p:cNvSpPr>
            <a:spLocks noGrp="1"/>
          </p:cNvSpPr>
          <p:nvPr>
            <p:ph type="title"/>
          </p:nvPr>
        </p:nvSpPr>
        <p:spPr>
          <a:xfrm>
            <a:off x="516692" y="205979"/>
            <a:ext cx="8136905" cy="857250"/>
          </a:xfrm>
        </p:spPr>
        <p:txBody>
          <a:bodyPr>
            <a:normAutofit/>
          </a:bodyPr>
          <a:lstStyle>
            <a:lvl1pPr algn="ctr">
              <a:defRPr sz="3200" b="1">
                <a:solidFill>
                  <a:srgbClr val="460046"/>
                </a:solidFill>
                <a:latin typeface="Merriweather" panose="00000500000000000000" pitchFamily="2" charset="0"/>
              </a:defRPr>
            </a:lvl1pPr>
          </a:lstStyle>
          <a:p>
            <a:r>
              <a:rPr lang="en-US" dirty="0"/>
              <a:t>Click to edit Master title style</a:t>
            </a:r>
            <a:endParaRPr lang="en-GB" dirty="0"/>
          </a:p>
        </p:txBody>
      </p:sp>
      <p:cxnSp>
        <p:nvCxnSpPr>
          <p:cNvPr id="15" name="Straight Connector 14"/>
          <p:cNvCxnSpPr/>
          <p:nvPr userDrawn="1"/>
        </p:nvCxnSpPr>
        <p:spPr>
          <a:xfrm>
            <a:off x="4572000" y="1151336"/>
            <a:ext cx="0" cy="34432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310DB28-467B-42AB-AF30-926E64120C57}" type="slidenum">
              <a:rPr lang="en-GB" smtClean="0"/>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dirty="0"/>
          </a:p>
        </p:txBody>
      </p:sp>
      <p:sp>
        <p:nvSpPr>
          <p:cNvPr id="5" name="Footer Placeholder 4"/>
          <p:cNvSpPr>
            <a:spLocks noGrp="1"/>
          </p:cNvSpPr>
          <p:nvPr>
            <p:ph type="ftr" sz="quarter" idx="3"/>
          </p:nvPr>
        </p:nvSpPr>
        <p:spPr>
          <a:xfrm>
            <a:off x="3124202"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310DB28-467B-42AB-AF30-926E64120C57}" type="slidenum">
              <a:rPr lang="en-GB" smtClean="0"/>
              <a:t>‹#›</a:t>
            </a:fld>
            <a:endParaRPr lang="en-GB"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314008" y="2787650"/>
            <a:ext cx="8581390" cy="1102360"/>
          </a:xfrm>
        </p:spPr>
        <p:txBody>
          <a:bodyPr>
            <a:normAutofit fontScale="90000"/>
          </a:bodyPr>
          <a:lstStyle/>
          <a:p>
            <a:r>
              <a:rPr lang="en-US" sz="2000" dirty="0"/>
              <a:t>EVALUATION OF METASEAL’S CRYPTOGRAPHIC WATERMARKING PIPELINE AGAINST GEOMETRIC SPATIAL ATTACKS AND LARGE-SCALE SEMANTIC AVERAGING</a:t>
            </a:r>
            <a:br>
              <a:rPr lang="en-US" sz="2000" dirty="0"/>
            </a:br>
            <a:endParaRPr lang="en-US" sz="2000" dirty="0"/>
          </a:p>
        </p:txBody>
      </p:sp>
      <p:sp>
        <p:nvSpPr>
          <p:cNvPr id="7" name="Subtitle 6"/>
          <p:cNvSpPr>
            <a:spLocks noGrp="1"/>
          </p:cNvSpPr>
          <p:nvPr>
            <p:ph type="subTitle" idx="1"/>
          </p:nvPr>
        </p:nvSpPr>
        <p:spPr>
          <a:xfrm>
            <a:off x="336550" y="3579862"/>
            <a:ext cx="8536305" cy="615315"/>
          </a:xfrm>
        </p:spPr>
        <p:txBody>
          <a:bodyPr>
            <a:noAutofit/>
          </a:bodyPr>
          <a:lstStyle/>
          <a:p>
            <a:endParaRPr dirty="0"/>
          </a:p>
          <a:p>
            <a:r>
              <a:rPr dirty="0"/>
              <a:t>A</a:t>
            </a:r>
            <a:r>
              <a:rPr lang="en-US" dirty="0"/>
              <a:t>ghulor</a:t>
            </a:r>
            <a:r>
              <a:rPr dirty="0"/>
              <a:t>, </a:t>
            </a:r>
            <a:r>
              <a:rPr lang="en-US" dirty="0"/>
              <a:t>Divine </a:t>
            </a:r>
            <a:r>
              <a:rPr dirty="0"/>
              <a:t>(22C</a:t>
            </a:r>
            <a:r>
              <a:rPr lang="en-US" dirty="0"/>
              <a:t>G031816</a:t>
            </a:r>
            <a:r>
              <a:rPr dirty="0"/>
              <a:t>)</a:t>
            </a:r>
          </a:p>
          <a:p>
            <a:endParaRPr dirty="0"/>
          </a:p>
        </p:txBody>
      </p:sp>
      <p:sp>
        <p:nvSpPr>
          <p:cNvPr id="5" name="Slide Number Placeholder 4"/>
          <p:cNvSpPr>
            <a:spLocks noGrp="1"/>
          </p:cNvSpPr>
          <p:nvPr>
            <p:ph type="sldNum" sz="quarter" idx="4294967295"/>
          </p:nvPr>
        </p:nvSpPr>
        <p:spPr>
          <a:xfrm>
            <a:off x="7010400" y="4767580"/>
            <a:ext cx="2133600" cy="273685"/>
          </a:xfrm>
        </p:spPr>
        <p:txBody>
          <a:bodyPr/>
          <a:lstStyle/>
          <a:p>
            <a:fld id="{B310DB28-467B-42AB-AF30-926E64120C57}" type="slidenum">
              <a:rPr lang="en-GB" smtClean="0"/>
              <a:t>1</a:t>
            </a:fld>
            <a:endParaRPr lang="en-GB" dirty="0"/>
          </a:p>
        </p:txBody>
      </p:sp>
      <p:sp>
        <p:nvSpPr>
          <p:cNvPr id="3" name="TextBox 2">
            <a:extLst>
              <a:ext uri="{FF2B5EF4-FFF2-40B4-BE49-F238E27FC236}">
                <a16:creationId xmlns:a16="http://schemas.microsoft.com/office/drawing/2014/main" id="{23F1B6C5-856B-FF63-20FA-75FAB7BF4547}"/>
              </a:ext>
            </a:extLst>
          </p:cNvPr>
          <p:cNvSpPr txBox="1"/>
          <p:nvPr/>
        </p:nvSpPr>
        <p:spPr>
          <a:xfrm>
            <a:off x="251520" y="4592048"/>
            <a:ext cx="5214401" cy="369332"/>
          </a:xfrm>
          <a:prstGeom prst="rect">
            <a:avLst/>
          </a:prstGeom>
          <a:noFill/>
        </p:spPr>
        <p:txBody>
          <a:bodyPr wrap="square">
            <a:spAutoFit/>
          </a:bodyPr>
          <a:lstStyle/>
          <a:p>
            <a:r>
              <a:rPr lang="en-US" b="1" dirty="0"/>
              <a:t>Department of Computer and Information Sciences</a:t>
            </a:r>
          </a:p>
        </p:txBody>
      </p:sp>
      <p:sp>
        <p:nvSpPr>
          <p:cNvPr id="8" name="TextBox 7">
            <a:extLst>
              <a:ext uri="{FF2B5EF4-FFF2-40B4-BE49-F238E27FC236}">
                <a16:creationId xmlns:a16="http://schemas.microsoft.com/office/drawing/2014/main" id="{4A66D9B4-8CE2-E649-DE50-A6065F3D0701}"/>
              </a:ext>
            </a:extLst>
          </p:cNvPr>
          <p:cNvSpPr txBox="1"/>
          <p:nvPr/>
        </p:nvSpPr>
        <p:spPr>
          <a:xfrm>
            <a:off x="6322095" y="4571763"/>
            <a:ext cx="2520280" cy="369332"/>
          </a:xfrm>
          <a:prstGeom prst="rect">
            <a:avLst/>
          </a:prstGeom>
          <a:noFill/>
        </p:spPr>
        <p:txBody>
          <a:bodyPr wrap="square">
            <a:spAutoFit/>
          </a:bodyPr>
          <a:lstStyle/>
          <a:p>
            <a:r>
              <a:rPr lang="en-US" b="1" dirty="0"/>
              <a:t>Miss Jemimah Nathaniel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35988" y="1419622"/>
            <a:ext cx="4176464" cy="3139321"/>
          </a:xfrm>
          <a:prstGeom prst="rect">
            <a:avLst/>
          </a:prstGeom>
          <a:noFill/>
        </p:spPr>
        <p:txBody>
          <a:bodyPr wrap="square" rtlCol="0">
            <a:spAutoFit/>
          </a:bodyPr>
          <a:lstStyle/>
          <a:p>
            <a:pPr marL="285750" indent="-285750">
              <a:buFont typeface="Arial" panose="020B0604020202020204" pitchFamily="34" charset="0"/>
              <a:buChar char="•"/>
            </a:pPr>
            <a:r>
              <a:rPr dirty="0"/>
              <a:t>Result – Objective 4 (Usability &amp; Performance)</a:t>
            </a:r>
          </a:p>
          <a:p>
            <a:pPr marL="285750" indent="-285750">
              <a:buFont typeface="Arial" panose="020B0604020202020204" pitchFamily="34" charset="0"/>
              <a:buChar char="•"/>
            </a:pPr>
            <a:r>
              <a:rPr dirty="0"/>
              <a:t>Discussion of Findings</a:t>
            </a:r>
          </a:p>
          <a:p>
            <a:pPr marL="285750" indent="-285750">
              <a:buFont typeface="Arial" panose="020B0604020202020204" pitchFamily="34" charset="0"/>
              <a:buChar char="•"/>
            </a:pPr>
            <a:r>
              <a:rPr dirty="0"/>
              <a:t>Significance of the Study</a:t>
            </a:r>
          </a:p>
          <a:p>
            <a:pPr marL="285750" indent="-285750">
              <a:buFont typeface="Arial" panose="020B0604020202020204" pitchFamily="34" charset="0"/>
              <a:buChar char="•"/>
            </a:pPr>
            <a:r>
              <a:rPr dirty="0"/>
              <a:t>Scope &amp; Limitations</a:t>
            </a:r>
          </a:p>
          <a:p>
            <a:pPr marL="285750" indent="-285750">
              <a:buFont typeface="Arial" panose="020B0604020202020204" pitchFamily="34" charset="0"/>
              <a:buChar char="•"/>
            </a:pPr>
            <a:r>
              <a:rPr dirty="0"/>
              <a:t>Recommendations</a:t>
            </a:r>
          </a:p>
          <a:p>
            <a:pPr marL="285750" indent="-285750">
              <a:buFont typeface="Arial" panose="020B0604020202020204" pitchFamily="34" charset="0"/>
              <a:buChar char="•"/>
            </a:pPr>
            <a:r>
              <a:rPr dirty="0"/>
              <a:t>Conclusion</a:t>
            </a:r>
          </a:p>
          <a:p>
            <a:pPr marL="285750" indent="-285750">
              <a:buFont typeface="Arial" panose="020B0604020202020204" pitchFamily="34" charset="0"/>
              <a:buChar char="•"/>
            </a:pPr>
            <a:r>
              <a:rPr dirty="0"/>
              <a:t>Acknowledgements</a:t>
            </a:r>
          </a:p>
          <a:p>
            <a:pPr marL="285750" indent="-285750">
              <a:buFont typeface="Arial" panose="020B0604020202020204" pitchFamily="34" charset="0"/>
              <a:buChar char="•"/>
            </a:pPr>
            <a:r>
              <a:rPr dirty="0"/>
              <a:t>References</a:t>
            </a:r>
          </a:p>
          <a:p>
            <a:pPr marL="285750" indent="-285750">
              <a:buFont typeface="Arial" panose="020B0604020202020204" pitchFamily="34" charset="0"/>
              <a:buChar char="•"/>
            </a:pPr>
            <a:endParaRPr dirty="0"/>
          </a:p>
          <a:p>
            <a:pPr marL="285750" indent="-285750">
              <a:buFont typeface="Arial" panose="020B0604020202020204" pitchFamily="34" charset="0"/>
              <a:buChar char="•"/>
            </a:pPr>
            <a:endParaRPr dirty="0"/>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2</a:t>
            </a:fld>
            <a:endParaRPr lang="en-GB"/>
          </a:p>
        </p:txBody>
      </p:sp>
      <p:sp>
        <p:nvSpPr>
          <p:cNvPr id="6" name="TextBox 5">
            <a:extLst>
              <a:ext uri="{FF2B5EF4-FFF2-40B4-BE49-F238E27FC236}">
                <a16:creationId xmlns:a16="http://schemas.microsoft.com/office/drawing/2014/main" id="{C3DF3D63-969C-1014-1FF7-E5EE31A45C14}"/>
              </a:ext>
            </a:extLst>
          </p:cNvPr>
          <p:cNvSpPr txBox="1"/>
          <p:nvPr/>
        </p:nvSpPr>
        <p:spPr>
          <a:xfrm>
            <a:off x="251520" y="1419622"/>
            <a:ext cx="4584468" cy="2585323"/>
          </a:xfrm>
          <a:prstGeom prst="rect">
            <a:avLst/>
          </a:prstGeom>
          <a:noFill/>
        </p:spPr>
        <p:txBody>
          <a:bodyPr wrap="square">
            <a:spAutoFit/>
          </a:bodyPr>
          <a:lstStyle/>
          <a:p>
            <a:pPr marL="285750" indent="-285750">
              <a:buFont typeface="Arial" panose="020B0604020202020204" pitchFamily="34" charset="0"/>
              <a:buChar char="•"/>
            </a:pPr>
            <a:r>
              <a:rPr lang="en-US" dirty="0"/>
              <a:t>Introduction</a:t>
            </a:r>
          </a:p>
          <a:p>
            <a:pPr marL="285750" indent="-285750">
              <a:buFont typeface="Arial" panose="020B0604020202020204" pitchFamily="34" charset="0"/>
              <a:buChar char="•"/>
            </a:pPr>
            <a:r>
              <a:rPr lang="en-US" dirty="0"/>
              <a:t>Statement of the Problem</a:t>
            </a:r>
          </a:p>
          <a:p>
            <a:pPr marL="285750" indent="-285750">
              <a:buFont typeface="Arial" panose="020B0604020202020204" pitchFamily="34" charset="0"/>
              <a:buChar char="•"/>
            </a:pPr>
            <a:r>
              <a:rPr lang="en-US" dirty="0"/>
              <a:t>Aim of the Study</a:t>
            </a:r>
          </a:p>
          <a:p>
            <a:pPr marL="285750" indent="-285750">
              <a:buFont typeface="Arial" panose="020B0604020202020204" pitchFamily="34" charset="0"/>
              <a:buChar char="•"/>
            </a:pPr>
            <a:r>
              <a:rPr lang="en-US" dirty="0"/>
              <a:t>Objectives of the Study</a:t>
            </a:r>
          </a:p>
          <a:p>
            <a:pPr marL="285750" indent="-285750">
              <a:buFont typeface="Arial" panose="020B0604020202020204" pitchFamily="34" charset="0"/>
              <a:buChar char="•"/>
            </a:pPr>
            <a:r>
              <a:rPr lang="en-US" dirty="0"/>
              <a:t>Methodology</a:t>
            </a:r>
          </a:p>
          <a:p>
            <a:pPr marL="285750" indent="-285750">
              <a:buFont typeface="Arial" panose="020B0604020202020204" pitchFamily="34" charset="0"/>
              <a:buChar char="•"/>
            </a:pPr>
            <a:r>
              <a:rPr lang="en-US" dirty="0"/>
              <a:t>Result – Objective 1</a:t>
            </a:r>
          </a:p>
          <a:p>
            <a:pPr marL="285750" indent="-285750">
              <a:buFont typeface="Arial" panose="020B0604020202020204" pitchFamily="34" charset="0"/>
              <a:buChar char="•"/>
            </a:pPr>
            <a:r>
              <a:rPr lang="en-US" dirty="0"/>
              <a:t>Result – Objective 2</a:t>
            </a:r>
          </a:p>
          <a:p>
            <a:pPr marL="285750" indent="-285750">
              <a:buFont typeface="Arial" panose="020B0604020202020204" pitchFamily="34" charset="0"/>
              <a:buChar char="•"/>
            </a:pPr>
            <a:r>
              <a:rPr lang="en-US" dirty="0"/>
              <a:t>Result – Objective 3 (Core Modules)</a:t>
            </a:r>
          </a:p>
          <a:p>
            <a:pPr marL="285750" indent="-285750">
              <a:buFont typeface="Arial" panose="020B0604020202020204" pitchFamily="34" charset="0"/>
              <a:buChar char="•"/>
            </a:pPr>
            <a:r>
              <a:rPr lang="en-US" dirty="0"/>
              <a:t>Result – Objective 3 (Intelligent Features)</a:t>
            </a:r>
          </a:p>
        </p:txBody>
      </p:sp>
      <p:sp>
        <p:nvSpPr>
          <p:cNvPr id="9" name="TextBox 8">
            <a:extLst>
              <a:ext uri="{FF2B5EF4-FFF2-40B4-BE49-F238E27FC236}">
                <a16:creationId xmlns:a16="http://schemas.microsoft.com/office/drawing/2014/main" id="{ED7C49D0-0D8D-DEB0-4C38-B643A981FDC1}"/>
              </a:ext>
            </a:extLst>
          </p:cNvPr>
          <p:cNvSpPr txBox="1"/>
          <p:nvPr/>
        </p:nvSpPr>
        <p:spPr>
          <a:xfrm>
            <a:off x="323528" y="602729"/>
            <a:ext cx="4582312" cy="523220"/>
          </a:xfrm>
          <a:prstGeom prst="rect">
            <a:avLst/>
          </a:prstGeom>
          <a:noFill/>
        </p:spPr>
        <p:txBody>
          <a:bodyPr wrap="square">
            <a:spAutoFit/>
          </a:bodyPr>
          <a:lstStyle/>
          <a:p>
            <a:pPr marL="0" indent="0">
              <a:buNone/>
            </a:pPr>
            <a:r>
              <a:rPr lang="en-US" sz="2800" b="1" dirty="0">
                <a:solidFill>
                  <a:srgbClr val="003366"/>
                </a:solidFill>
              </a:rPr>
              <a:t>OUTLINE</a:t>
            </a:r>
            <a:endParaRPr lang="en-US" sz="2800" dirty="0"/>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0206" y="1316096"/>
            <a:ext cx="8628380" cy="646331"/>
          </a:xfrm>
          <a:prstGeom prst="rect">
            <a:avLst/>
          </a:prstGeom>
          <a:noFill/>
        </p:spPr>
        <p:txBody>
          <a:bodyPr wrap="square" rtlCol="0">
            <a:spAutoFit/>
          </a:bodyPr>
          <a:lstStyle/>
          <a:p>
            <a:r>
              <a:rPr lang="en-US" b="1" dirty="0"/>
              <a:t>Image Forgery</a:t>
            </a:r>
          </a:p>
          <a:p>
            <a:r>
              <a:rPr lang="en-US" dirty="0"/>
              <a:t>The growth of image editing tools as well as AI generated imagery has created </a:t>
            </a:r>
            <a:r>
              <a:rPr dirty="0"/>
              <a:t>.</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3</a:t>
            </a:fld>
            <a:endParaRPr lang="en-GB"/>
          </a:p>
        </p:txBody>
      </p:sp>
      <p:sp>
        <p:nvSpPr>
          <p:cNvPr id="7" name="TextBox 6">
            <a:extLst>
              <a:ext uri="{FF2B5EF4-FFF2-40B4-BE49-F238E27FC236}">
                <a16:creationId xmlns:a16="http://schemas.microsoft.com/office/drawing/2014/main" id="{D4ED1F0D-5CEC-B30D-5225-2829A0E137CE}"/>
              </a:ext>
            </a:extLst>
          </p:cNvPr>
          <p:cNvSpPr txBox="1"/>
          <p:nvPr/>
        </p:nvSpPr>
        <p:spPr>
          <a:xfrm>
            <a:off x="280206" y="2394113"/>
            <a:ext cx="8628379" cy="923330"/>
          </a:xfrm>
          <a:prstGeom prst="rect">
            <a:avLst/>
          </a:prstGeom>
          <a:noFill/>
        </p:spPr>
        <p:txBody>
          <a:bodyPr wrap="square">
            <a:spAutoFit/>
          </a:bodyPr>
          <a:lstStyle/>
          <a:p>
            <a:r>
              <a:rPr lang="en-US" b="1" dirty="0"/>
              <a:t>The Current Landscape</a:t>
            </a:r>
          </a:p>
          <a:p>
            <a:r>
              <a:rPr lang="en-US" dirty="0"/>
              <a:t>Existing tools (messaging apps, cloud editors) bring basic efficiency, but severely lack collective guidance and automated workflow structuring (Dang, Carbone, Ye &amp; Vu, 2022).</a:t>
            </a:r>
          </a:p>
        </p:txBody>
      </p:sp>
      <p:sp>
        <p:nvSpPr>
          <p:cNvPr id="9" name="TextBox 8">
            <a:extLst>
              <a:ext uri="{FF2B5EF4-FFF2-40B4-BE49-F238E27FC236}">
                <a16:creationId xmlns:a16="http://schemas.microsoft.com/office/drawing/2014/main" id="{04E0FC2F-EE2D-FFB6-936B-0FF0B7D7F4CF}"/>
              </a:ext>
            </a:extLst>
          </p:cNvPr>
          <p:cNvSpPr txBox="1"/>
          <p:nvPr/>
        </p:nvSpPr>
        <p:spPr>
          <a:xfrm>
            <a:off x="280206" y="3502457"/>
            <a:ext cx="8516222" cy="923330"/>
          </a:xfrm>
          <a:prstGeom prst="rect">
            <a:avLst/>
          </a:prstGeom>
          <a:noFill/>
        </p:spPr>
        <p:txBody>
          <a:bodyPr wrap="square">
            <a:spAutoFit/>
          </a:bodyPr>
          <a:lstStyle/>
          <a:p>
            <a:r>
              <a:rPr lang="en-US" b="1" dirty="0"/>
              <a:t>The Current Landscape</a:t>
            </a:r>
          </a:p>
          <a:p>
            <a:r>
              <a:rPr lang="en-US" dirty="0"/>
              <a:t>Many watermarking systems have been developed to outperform the vulnerabilities of the last. However, </a:t>
            </a:r>
          </a:p>
        </p:txBody>
      </p:sp>
      <p:sp>
        <p:nvSpPr>
          <p:cNvPr id="12" name="TextBox 11">
            <a:extLst>
              <a:ext uri="{FF2B5EF4-FFF2-40B4-BE49-F238E27FC236}">
                <a16:creationId xmlns:a16="http://schemas.microsoft.com/office/drawing/2014/main" id="{01DA5D24-BE41-54DA-38E2-B042F90CB7A1}"/>
              </a:ext>
            </a:extLst>
          </p:cNvPr>
          <p:cNvSpPr txBox="1"/>
          <p:nvPr/>
        </p:nvSpPr>
        <p:spPr>
          <a:xfrm>
            <a:off x="280206" y="607862"/>
            <a:ext cx="4582312" cy="523220"/>
          </a:xfrm>
          <a:prstGeom prst="rect">
            <a:avLst/>
          </a:prstGeom>
          <a:noFill/>
        </p:spPr>
        <p:txBody>
          <a:bodyPr wrap="square">
            <a:spAutoFit/>
          </a:bodyPr>
          <a:lstStyle/>
          <a:p>
            <a:pPr marL="0" indent="0">
              <a:buNone/>
            </a:pPr>
            <a:r>
              <a:rPr lang="en-US" sz="2800" b="1" dirty="0">
                <a:solidFill>
                  <a:srgbClr val="003366"/>
                </a:solidFill>
              </a:rPr>
              <a:t>INTRODUCTION</a:t>
            </a:r>
            <a:endParaRPr lang="en-US" sz="2800" dirty="0"/>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7810" y="1491630"/>
            <a:ext cx="8628380" cy="3200876"/>
          </a:xfrm>
          <a:prstGeom prst="rect">
            <a:avLst/>
          </a:prstGeom>
          <a:noFill/>
        </p:spPr>
        <p:txBody>
          <a:bodyPr wrap="square" rtlCol="0">
            <a:spAutoFit/>
          </a:bodyPr>
          <a:lstStyle/>
          <a:p>
            <a:r>
              <a:rPr lang="en-US" b="1" dirty="0" err="1"/>
              <a:t>MetaSeal</a:t>
            </a:r>
            <a:r>
              <a:rPr lang="en-US" b="1" dirty="0"/>
              <a:t>: </a:t>
            </a:r>
            <a:r>
              <a:rPr lang="en-US" dirty="0" err="1"/>
              <a:t>MetaSeal</a:t>
            </a:r>
            <a:r>
              <a:rPr lang="en-US" dirty="0"/>
              <a:t> was created as a new watermarking system to solve the vulnerabilities of existing systems by cryptographically binding an image's semantic content to an ECDSA signature (Zhou et al., 2026)</a:t>
            </a:r>
          </a:p>
          <a:p>
            <a:endParaRPr sz="1600" dirty="0"/>
          </a:p>
          <a:p>
            <a:r>
              <a:rPr b="1" dirty="0"/>
              <a:t>Bottlenecks: </a:t>
            </a:r>
            <a:r>
              <a:rPr lang="en-US" dirty="0" err="1"/>
              <a:t>MetaSeal</a:t>
            </a:r>
            <a:r>
              <a:rPr lang="en-US" dirty="0"/>
              <a:t> is built on top of block-based frequency embeddings and semantic content binding which exposes it to some vulnerabilities seen in similar systems (</a:t>
            </a:r>
            <a:r>
              <a:rPr lang="en-US" dirty="0" err="1"/>
              <a:t>Alrammahi</a:t>
            </a:r>
            <a:r>
              <a:rPr lang="en-US" dirty="0"/>
              <a:t> &amp; </a:t>
            </a:r>
            <a:r>
              <a:rPr lang="en-US" dirty="0" err="1"/>
              <a:t>Sajedi</a:t>
            </a:r>
            <a:r>
              <a:rPr lang="en-US" dirty="0"/>
              <a:t>, 2025; </a:t>
            </a:r>
            <a:r>
              <a:rPr lang="en-US" dirty="0" err="1"/>
              <a:t>Ganic</a:t>
            </a:r>
            <a:r>
              <a:rPr lang="en-US" dirty="0"/>
              <a:t> &amp; </a:t>
            </a:r>
            <a:r>
              <a:rPr lang="en-US" dirty="0" err="1"/>
              <a:t>Eskicioglu</a:t>
            </a:r>
            <a:r>
              <a:rPr lang="en-US" dirty="0"/>
              <a:t>, 2004, Pei et al., 2026). </a:t>
            </a:r>
            <a:r>
              <a:rPr dirty="0"/>
              <a:t>.</a:t>
            </a:r>
            <a:endParaRPr lang="en-US" dirty="0"/>
          </a:p>
          <a:p>
            <a:endParaRPr dirty="0"/>
          </a:p>
          <a:p>
            <a:r>
              <a:rPr lang="en-US" b="1" dirty="0"/>
              <a:t>The Testing Gap: T</a:t>
            </a:r>
            <a:r>
              <a:rPr lang="en-US" dirty="0"/>
              <a:t>here is currently no other paper that has tried to implement </a:t>
            </a:r>
            <a:r>
              <a:rPr lang="en-US" dirty="0" err="1"/>
              <a:t>MetaSeal</a:t>
            </a:r>
            <a:r>
              <a:rPr lang="en-US" dirty="0"/>
              <a:t> and test the system against other popular attacks including </a:t>
            </a:r>
            <a:r>
              <a:rPr lang="en-US" b="1" dirty="0"/>
              <a:t>GEOMETRIC AND SPATIAL ATTACKS </a:t>
            </a:r>
            <a:r>
              <a:rPr lang="en-US" dirty="0"/>
              <a:t>as well as </a:t>
            </a:r>
            <a:r>
              <a:rPr lang="en-US" b="1" dirty="0"/>
              <a:t>LARGE SCALE SEMANTIC AVERAGING </a:t>
            </a:r>
            <a:r>
              <a:rPr lang="en-US" dirty="0"/>
              <a:t>(Zhou et al., 2026).</a:t>
            </a:r>
          </a:p>
        </p:txBody>
      </p:sp>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4</a:t>
            </a:fld>
            <a:endParaRPr lang="en-GB"/>
          </a:p>
        </p:txBody>
      </p:sp>
      <p:sp>
        <p:nvSpPr>
          <p:cNvPr id="6" name="TextBox 5">
            <a:extLst>
              <a:ext uri="{FF2B5EF4-FFF2-40B4-BE49-F238E27FC236}">
                <a16:creationId xmlns:a16="http://schemas.microsoft.com/office/drawing/2014/main" id="{C28C50CB-C7DB-5ADE-5429-357FC3F7918E}"/>
              </a:ext>
            </a:extLst>
          </p:cNvPr>
          <p:cNvSpPr txBox="1"/>
          <p:nvPr/>
        </p:nvSpPr>
        <p:spPr>
          <a:xfrm>
            <a:off x="257810" y="699542"/>
            <a:ext cx="5466318" cy="523220"/>
          </a:xfrm>
          <a:prstGeom prst="rect">
            <a:avLst/>
          </a:prstGeom>
          <a:noFill/>
        </p:spPr>
        <p:txBody>
          <a:bodyPr wrap="square">
            <a:spAutoFit/>
          </a:bodyPr>
          <a:lstStyle/>
          <a:p>
            <a:r>
              <a:rPr lang="en-US" sz="2800" b="1" dirty="0">
                <a:solidFill>
                  <a:srgbClr val="003366"/>
                </a:solidFill>
              </a:rPr>
              <a:t>STATEMENT OF THE PROBLEM</a:t>
            </a:r>
            <a:endParaRPr lang="en-US" sz="2800" dirty="0"/>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5</a:t>
            </a:fld>
            <a:endParaRPr lang="en-GB"/>
          </a:p>
        </p:txBody>
      </p:sp>
      <p:sp>
        <p:nvSpPr>
          <p:cNvPr id="4" name="Text 0">
            <a:extLst>
              <a:ext uri="{FF2B5EF4-FFF2-40B4-BE49-F238E27FC236}">
                <a16:creationId xmlns:a16="http://schemas.microsoft.com/office/drawing/2014/main" id="{BDFD2824-CBCE-E664-6F37-07A42EC00FA3}"/>
              </a:ext>
            </a:extLst>
          </p:cNvPr>
          <p:cNvSpPr/>
          <p:nvPr/>
        </p:nvSpPr>
        <p:spPr>
          <a:xfrm>
            <a:off x="389466" y="178024"/>
            <a:ext cx="8229600" cy="731520"/>
          </a:xfrm>
          <a:prstGeom prst="rect">
            <a:avLst/>
          </a:prstGeom>
          <a:noFill/>
          <a:ln/>
        </p:spPr>
        <p:txBody>
          <a:bodyPr wrap="square" rtlCol="0" anchor="ctr"/>
          <a:lstStyle/>
          <a:p>
            <a:pPr marL="0" indent="0">
              <a:buNone/>
            </a:pPr>
            <a:r>
              <a:rPr lang="en-US" sz="2800" b="1" dirty="0">
                <a:solidFill>
                  <a:srgbClr val="003366"/>
                </a:solidFill>
              </a:rPr>
              <a:t>LITERATURE REVIEW</a:t>
            </a:r>
            <a:endParaRPr lang="en-US" sz="2800" dirty="0"/>
          </a:p>
        </p:txBody>
      </p:sp>
      <p:sp>
        <p:nvSpPr>
          <p:cNvPr id="6" name="TextBox 5">
            <a:extLst>
              <a:ext uri="{FF2B5EF4-FFF2-40B4-BE49-F238E27FC236}">
                <a16:creationId xmlns:a16="http://schemas.microsoft.com/office/drawing/2014/main" id="{28ECEF3D-F28D-ED15-2055-A3D410F658AC}"/>
              </a:ext>
            </a:extLst>
          </p:cNvPr>
          <p:cNvSpPr txBox="1"/>
          <p:nvPr/>
        </p:nvSpPr>
        <p:spPr>
          <a:xfrm>
            <a:off x="389466" y="773403"/>
            <a:ext cx="6036734" cy="464871"/>
          </a:xfrm>
          <a:prstGeom prst="rect">
            <a:avLst/>
          </a:prstGeom>
          <a:noFill/>
        </p:spPr>
        <p:txBody>
          <a:bodyPr wrap="square">
            <a:spAutoFit/>
          </a:bodyPr>
          <a:lstStyle/>
          <a:p>
            <a:pPr>
              <a:lnSpc>
                <a:spcPct val="150000"/>
              </a:lnSpc>
            </a:pPr>
            <a:r>
              <a:rPr lang="en-GB" dirty="0"/>
              <a:t>Below is a table detailing the Related Works of the study</a:t>
            </a:r>
            <a:endParaRPr lang="en-US" dirty="0"/>
          </a:p>
        </p:txBody>
      </p:sp>
      <p:graphicFrame>
        <p:nvGraphicFramePr>
          <p:cNvPr id="7" name="Table 6">
            <a:extLst>
              <a:ext uri="{FF2B5EF4-FFF2-40B4-BE49-F238E27FC236}">
                <a16:creationId xmlns:a16="http://schemas.microsoft.com/office/drawing/2014/main" id="{2063605B-0FB1-229D-FDF1-BF8EDD5C7129}"/>
              </a:ext>
            </a:extLst>
          </p:cNvPr>
          <p:cNvGraphicFramePr>
            <a:graphicFrameLocks noGrp="1"/>
          </p:cNvGraphicFramePr>
          <p:nvPr>
            <p:extLst>
              <p:ext uri="{D42A27DB-BD31-4B8C-83A1-F6EECF244321}">
                <p14:modId xmlns:p14="http://schemas.microsoft.com/office/powerpoint/2010/main" val="3313126466"/>
              </p:ext>
            </p:extLst>
          </p:nvPr>
        </p:nvGraphicFramePr>
        <p:xfrm>
          <a:off x="411183" y="1419922"/>
          <a:ext cx="8322731" cy="3567219"/>
        </p:xfrm>
        <a:graphic>
          <a:graphicData uri="http://schemas.openxmlformats.org/drawingml/2006/table">
            <a:tbl>
              <a:tblPr firstRow="1" bandRow="1">
                <a:tableStyleId>{5C22544A-7EE6-4342-B048-85BDC9FD1C3A}</a:tableStyleId>
              </a:tblPr>
              <a:tblGrid>
                <a:gridCol w="1185333">
                  <a:extLst>
                    <a:ext uri="{9D8B030D-6E8A-4147-A177-3AD203B41FA5}">
                      <a16:colId xmlns:a16="http://schemas.microsoft.com/office/drawing/2014/main" val="1135842376"/>
                    </a:ext>
                  </a:extLst>
                </a:gridCol>
                <a:gridCol w="1955800">
                  <a:extLst>
                    <a:ext uri="{9D8B030D-6E8A-4147-A177-3AD203B41FA5}">
                      <a16:colId xmlns:a16="http://schemas.microsoft.com/office/drawing/2014/main" val="21656975"/>
                    </a:ext>
                  </a:extLst>
                </a:gridCol>
                <a:gridCol w="2878667">
                  <a:extLst>
                    <a:ext uri="{9D8B030D-6E8A-4147-A177-3AD203B41FA5}">
                      <a16:colId xmlns:a16="http://schemas.microsoft.com/office/drawing/2014/main" val="4123853341"/>
                    </a:ext>
                  </a:extLst>
                </a:gridCol>
                <a:gridCol w="2302931">
                  <a:extLst>
                    <a:ext uri="{9D8B030D-6E8A-4147-A177-3AD203B41FA5}">
                      <a16:colId xmlns:a16="http://schemas.microsoft.com/office/drawing/2014/main" val="1240356948"/>
                    </a:ext>
                  </a:extLst>
                </a:gridCol>
              </a:tblGrid>
              <a:tr h="551707">
                <a:tc>
                  <a:txBody>
                    <a:bodyPr/>
                    <a:lstStyle/>
                    <a:p>
                      <a:r>
                        <a:rPr sz="1400" b="1" dirty="0"/>
                        <a:t>Author(s) &amp; Year</a:t>
                      </a:r>
                    </a:p>
                  </a:txBody>
                  <a:tcPr marL="91425" marR="91425" marT="91425" marB="91425"/>
                </a:tc>
                <a:tc>
                  <a:txBody>
                    <a:bodyPr/>
                    <a:lstStyle/>
                    <a:p>
                      <a:r>
                        <a:rPr sz="1400" b="1" dirty="0"/>
                        <a:t>Focus Area</a:t>
                      </a:r>
                    </a:p>
                  </a:txBody>
                  <a:tcPr marL="91425" marR="91425" marT="91425" marB="91425"/>
                </a:tc>
                <a:tc>
                  <a:txBody>
                    <a:bodyPr/>
                    <a:lstStyle/>
                    <a:p>
                      <a:r>
                        <a:rPr sz="1400" b="1"/>
                        <a:t>Key Findings</a:t>
                      </a:r>
                    </a:p>
                  </a:txBody>
                  <a:tcPr marL="91425" marR="91425" marT="91425" marB="91425"/>
                </a:tc>
                <a:tc>
                  <a:txBody>
                    <a:bodyPr/>
                    <a:lstStyle/>
                    <a:p>
                      <a:r>
                        <a:rPr sz="1400" b="1" dirty="0"/>
                        <a:t>Limitations regarding this study</a:t>
                      </a:r>
                    </a:p>
                  </a:txBody>
                  <a:tcPr marL="91425" marR="91425" marT="91425" marB="91425"/>
                </a:tc>
                <a:extLst>
                  <a:ext uri="{0D108BD9-81ED-4DB2-BD59-A6C34878D82A}">
                    <a16:rowId xmlns:a16="http://schemas.microsoft.com/office/drawing/2014/main" val="1937093898"/>
                  </a:ext>
                </a:extLst>
              </a:tr>
              <a:tr h="529691">
                <a:tc>
                  <a:txBody>
                    <a:bodyPr/>
                    <a:lstStyle/>
                    <a:p>
                      <a:r>
                        <a:rPr lang="en-US" sz="1400" dirty="0"/>
                        <a:t>Lee et al. (2020)</a:t>
                      </a:r>
                      <a:endParaRPr sz="1400" dirty="0"/>
                    </a:p>
                  </a:txBody>
                  <a:tcPr/>
                </a:tc>
                <a:tc>
                  <a:txBody>
                    <a:bodyPr/>
                    <a:lstStyle/>
                    <a:p>
                      <a:r>
                        <a:rPr lang="en-US" sz="1400" dirty="0"/>
                        <a:t>Existing Watermarking Systems (Dwt </a:t>
                      </a:r>
                      <a:r>
                        <a:rPr lang="en-US" sz="1400" dirty="0" err="1"/>
                        <a:t>Dct</a:t>
                      </a:r>
                      <a:r>
                        <a:rPr lang="en-US" sz="1400" dirty="0"/>
                        <a:t> </a:t>
                      </a:r>
                      <a:r>
                        <a:rPr lang="en-US" sz="1400" dirty="0" err="1"/>
                        <a:t>Svd</a:t>
                      </a:r>
                      <a:r>
                        <a:rPr lang="en-US" sz="1400" dirty="0"/>
                        <a:t>)</a:t>
                      </a:r>
                      <a:endParaRPr sz="1400" dirty="0"/>
                    </a:p>
                  </a:txBody>
                  <a:tcPr/>
                </a:tc>
                <a:tc>
                  <a:txBody>
                    <a:bodyPr/>
                    <a:lstStyle/>
                    <a:p>
                      <a:r>
                        <a:rPr lang="en-US" sz="1400" dirty="0"/>
                        <a:t>Watermarking systems that have been used over the years and the technology behind them</a:t>
                      </a:r>
                      <a:endParaRPr sz="1400" dirty="0"/>
                    </a:p>
                  </a:txBody>
                  <a:tcPr/>
                </a:tc>
                <a:tc>
                  <a:txBody>
                    <a:bodyPr/>
                    <a:lstStyle/>
                    <a:p>
                      <a:r>
                        <a:rPr sz="1400"/>
                        <a:t>Focuses on human behaviour; no software tools</a:t>
                      </a:r>
                    </a:p>
                  </a:txBody>
                  <a:tcPr/>
                </a:tc>
                <a:extLst>
                  <a:ext uri="{0D108BD9-81ED-4DB2-BD59-A6C34878D82A}">
                    <a16:rowId xmlns:a16="http://schemas.microsoft.com/office/drawing/2014/main" val="2095557639"/>
                  </a:ext>
                </a:extLst>
              </a:tr>
              <a:tr h="742043">
                <a:tc>
                  <a:txBody>
                    <a:bodyPr/>
                    <a:lstStyle/>
                    <a:p>
                      <a:r>
                        <a:rPr sz="1400"/>
                        <a:t>James et al. (2024)</a:t>
                      </a:r>
                    </a:p>
                  </a:txBody>
                  <a:tcPr/>
                </a:tc>
                <a:tc>
                  <a:txBody>
                    <a:bodyPr/>
                    <a:lstStyle/>
                    <a:p>
                      <a:r>
                        <a:rPr lang="en-US" sz="1400" dirty="0" err="1"/>
                        <a:t>MetaSeal</a:t>
                      </a:r>
                      <a:endParaRPr sz="1400" dirty="0"/>
                    </a:p>
                  </a:txBody>
                  <a:tcPr/>
                </a:tc>
                <a:tc>
                  <a:txBody>
                    <a:bodyPr/>
                    <a:lstStyle/>
                    <a:p>
                      <a:r>
                        <a:rPr lang="en-US" sz="1400" dirty="0"/>
                        <a:t>The </a:t>
                      </a:r>
                      <a:r>
                        <a:rPr lang="en-US" sz="1400" dirty="0" err="1"/>
                        <a:t>MetaSeal</a:t>
                      </a:r>
                      <a:r>
                        <a:rPr lang="en-US" sz="1400" dirty="0"/>
                        <a:t> system, tech behind it and how it addresses existing vulnerabilities (INNs, dependence)</a:t>
                      </a:r>
                      <a:endParaRPr sz="1400" dirty="0"/>
                    </a:p>
                  </a:txBody>
                  <a:tcPr/>
                </a:tc>
                <a:tc>
                  <a:txBody>
                    <a:bodyPr/>
                    <a:lstStyle/>
                    <a:p>
                      <a:r>
                        <a:rPr sz="1400"/>
                        <a:t>Focuses on technology use, not AI automation</a:t>
                      </a:r>
                    </a:p>
                  </a:txBody>
                  <a:tcPr/>
                </a:tc>
                <a:extLst>
                  <a:ext uri="{0D108BD9-81ED-4DB2-BD59-A6C34878D82A}">
                    <a16:rowId xmlns:a16="http://schemas.microsoft.com/office/drawing/2014/main" val="4079183625"/>
                  </a:ext>
                </a:extLst>
              </a:tr>
              <a:tr h="742043">
                <a:tc>
                  <a:txBody>
                    <a:bodyPr/>
                    <a:lstStyle/>
                    <a:p>
                      <a:r>
                        <a:rPr sz="1400"/>
                        <a:t>Daraojimba et al. (2024)</a:t>
                      </a:r>
                    </a:p>
                  </a:txBody>
                  <a:tcPr/>
                </a:tc>
                <a:tc>
                  <a:txBody>
                    <a:bodyPr/>
                    <a:lstStyle/>
                    <a:p>
                      <a:r>
                        <a:rPr lang="en-US" sz="1400" dirty="0"/>
                        <a:t>Gaps in Existing Literature</a:t>
                      </a:r>
                      <a:endParaRPr sz="1400" dirty="0"/>
                    </a:p>
                  </a:txBody>
                  <a:tcPr/>
                </a:tc>
                <a:tc>
                  <a:txBody>
                    <a:bodyPr/>
                    <a:lstStyle/>
                    <a:p>
                      <a:r>
                        <a:rPr lang="en-US" sz="1400" dirty="0"/>
                        <a:t>Untested attacks which </a:t>
                      </a:r>
                      <a:r>
                        <a:rPr lang="en-US" sz="1400" dirty="0" err="1"/>
                        <a:t>MetaSeal</a:t>
                      </a:r>
                      <a:r>
                        <a:rPr lang="en-US" sz="1400" dirty="0"/>
                        <a:t> is susceptible to because of the underlying technology</a:t>
                      </a:r>
                      <a:endParaRPr sz="1400" dirty="0"/>
                    </a:p>
                  </a:txBody>
                  <a:tcPr/>
                </a:tc>
                <a:tc>
                  <a:txBody>
                    <a:bodyPr/>
                    <a:lstStyle/>
                    <a:p>
                      <a:r>
                        <a:rPr sz="1400" dirty="0"/>
                        <a:t>Does not address AI integration within agile frameworks</a:t>
                      </a:r>
                    </a:p>
                  </a:txBody>
                  <a:tcPr/>
                </a:tc>
                <a:extLst>
                  <a:ext uri="{0D108BD9-81ED-4DB2-BD59-A6C34878D82A}">
                    <a16:rowId xmlns:a16="http://schemas.microsoft.com/office/drawing/2014/main" val="3649490642"/>
                  </a:ext>
                </a:extLst>
              </a:tr>
              <a:tr h="742043">
                <a:tc>
                  <a:txBody>
                    <a:bodyPr/>
                    <a:lstStyle/>
                    <a:p>
                      <a:pPr marL="0" marR="0" algn="l">
                        <a:lnSpc>
                          <a:spcPct val="100000"/>
                        </a:lnSpc>
                        <a:spcAft>
                          <a:spcPts val="1200"/>
                        </a:spcAft>
                        <a:buNone/>
                      </a:pPr>
                      <a:r>
                        <a:rPr lang="en-GB" sz="1400" b="0" kern="100" dirty="0" err="1">
                          <a:effectLst/>
                          <a:latin typeface="+mn-lt"/>
                          <a:ea typeface="Times New Roman" panose="02020603050405020304" pitchFamily="18" charset="0"/>
                          <a:cs typeface="Times New Roman" panose="02020603050405020304" pitchFamily="18" charset="0"/>
                        </a:rPr>
                        <a:t>Terzopoulos</a:t>
                      </a:r>
                      <a:r>
                        <a:rPr lang="en-GB" sz="1400" b="0" kern="100" dirty="0">
                          <a:effectLst/>
                          <a:latin typeface="+mn-lt"/>
                          <a:ea typeface="Times New Roman" panose="02020603050405020304" pitchFamily="18" charset="0"/>
                          <a:cs typeface="Times New Roman" panose="02020603050405020304" pitchFamily="18" charset="0"/>
                        </a:rPr>
                        <a:t> &amp; Satratzemi (2019)</a:t>
                      </a:r>
                      <a:endParaRPr lang="en-US" sz="1400" b="0" kern="1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l">
                        <a:lnSpc>
                          <a:spcPct val="100000"/>
                        </a:lnSpc>
                        <a:spcAft>
                          <a:spcPts val="1200"/>
                        </a:spcAft>
                        <a:buNone/>
                      </a:pPr>
                      <a:r>
                        <a:rPr lang="en-GB" sz="1400" b="0" kern="100" dirty="0">
                          <a:effectLst/>
                          <a:latin typeface="+mn-lt"/>
                          <a:ea typeface="Times New Roman" panose="02020603050405020304" pitchFamily="18" charset="0"/>
                          <a:cs typeface="Times New Roman" panose="02020603050405020304" pitchFamily="18" charset="0"/>
                        </a:rPr>
                        <a:t>Robustness Evaluation Metrics</a:t>
                      </a:r>
                      <a:endParaRPr lang="en-US" sz="1400" b="0" kern="1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l">
                        <a:lnSpc>
                          <a:spcPct val="100000"/>
                        </a:lnSpc>
                        <a:spcAft>
                          <a:spcPts val="1200"/>
                        </a:spcAft>
                        <a:buNone/>
                      </a:pPr>
                      <a:r>
                        <a:rPr lang="en-GB" sz="1400" b="0" kern="100" dirty="0">
                          <a:effectLst/>
                          <a:latin typeface="+mn-lt"/>
                          <a:ea typeface="Times New Roman" panose="02020603050405020304" pitchFamily="18" charset="0"/>
                          <a:cs typeface="Times New Roman" panose="02020603050405020304" pitchFamily="18" charset="0"/>
                        </a:rPr>
                        <a:t>Industry standard metrics for evaluating semi-fragile watermarking systems (PSNR, Wilcoxon)</a:t>
                      </a:r>
                      <a:endParaRPr lang="en-US" sz="1400" b="0" kern="1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l">
                        <a:lnSpc>
                          <a:spcPct val="100000"/>
                        </a:lnSpc>
                        <a:spcAft>
                          <a:spcPts val="1200"/>
                        </a:spcAft>
                        <a:buNone/>
                      </a:pPr>
                      <a:r>
                        <a:rPr lang="en-GB" sz="1400" b="0" kern="100" dirty="0">
                          <a:effectLst/>
                          <a:latin typeface="+mn-lt"/>
                          <a:ea typeface="Times New Roman" panose="02020603050405020304" pitchFamily="18" charset="0"/>
                          <a:cs typeface="Times New Roman" panose="02020603050405020304" pitchFamily="18" charset="0"/>
                        </a:rPr>
                        <a:t>Early systems lacked modern generative AI capabilities</a:t>
                      </a:r>
                      <a:endParaRPr lang="en-US" sz="1400" b="0" kern="1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697406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6</a:t>
            </a:fld>
            <a:endParaRPr lang="en-GB"/>
          </a:p>
        </p:txBody>
      </p:sp>
      <p:sp>
        <p:nvSpPr>
          <p:cNvPr id="9" name="Text 0">
            <a:extLst>
              <a:ext uri="{FF2B5EF4-FFF2-40B4-BE49-F238E27FC236}">
                <a16:creationId xmlns:a16="http://schemas.microsoft.com/office/drawing/2014/main" id="{5EEC54FB-9F0F-520B-76E0-45D8AC6A2419}"/>
              </a:ext>
            </a:extLst>
          </p:cNvPr>
          <p:cNvSpPr/>
          <p:nvPr/>
        </p:nvSpPr>
        <p:spPr>
          <a:xfrm>
            <a:off x="457200" y="274320"/>
            <a:ext cx="8229600" cy="731520"/>
          </a:xfrm>
          <a:prstGeom prst="rect">
            <a:avLst/>
          </a:prstGeom>
          <a:noFill/>
          <a:ln/>
        </p:spPr>
        <p:txBody>
          <a:bodyPr wrap="square" rtlCol="0" anchor="ctr"/>
          <a:lstStyle/>
          <a:p>
            <a:pPr marL="0" indent="0">
              <a:buNone/>
            </a:pPr>
            <a:r>
              <a:rPr lang="en-US" sz="2800" b="1" dirty="0">
                <a:solidFill>
                  <a:srgbClr val="003366"/>
                </a:solidFill>
              </a:rPr>
              <a:t>AIM OF THE STUDY</a:t>
            </a:r>
            <a:endParaRPr lang="en-US" sz="2800" dirty="0"/>
          </a:p>
        </p:txBody>
      </p:sp>
      <p:sp>
        <p:nvSpPr>
          <p:cNvPr id="10" name="Text 1">
            <a:extLst>
              <a:ext uri="{FF2B5EF4-FFF2-40B4-BE49-F238E27FC236}">
                <a16:creationId xmlns:a16="http://schemas.microsoft.com/office/drawing/2014/main" id="{E6CA6C4F-2046-7C61-F8EE-25BA38402BE4}"/>
              </a:ext>
            </a:extLst>
          </p:cNvPr>
          <p:cNvSpPr/>
          <p:nvPr/>
        </p:nvSpPr>
        <p:spPr>
          <a:xfrm>
            <a:off x="1729409" y="1914939"/>
            <a:ext cx="5453270" cy="3140765"/>
          </a:xfrm>
          <a:prstGeom prst="rect">
            <a:avLst/>
          </a:prstGeom>
          <a:noFill/>
          <a:ln/>
        </p:spPr>
        <p:txBody>
          <a:bodyPr wrap="square" rtlCol="0" anchor="t"/>
          <a:lstStyle/>
          <a:p>
            <a:pPr marL="0" indent="0" algn="ctr">
              <a:buNone/>
            </a:pPr>
            <a:r>
              <a:rPr lang="en-US" sz="2400" dirty="0">
                <a:solidFill>
                  <a:srgbClr val="363636"/>
                </a:solidFill>
              </a:rPr>
              <a:t>The aim of this study is to evaluate </a:t>
            </a:r>
            <a:r>
              <a:rPr lang="en-US" sz="2400" dirty="0" err="1">
                <a:solidFill>
                  <a:srgbClr val="363636"/>
                </a:solidFill>
              </a:rPr>
              <a:t>metaseal’s</a:t>
            </a:r>
            <a:r>
              <a:rPr lang="en-US" sz="2400" dirty="0">
                <a:solidFill>
                  <a:srgbClr val="363636"/>
                </a:solidFill>
              </a:rPr>
              <a:t> cryptographic watermarking pipeline against geometric spatial attacks and large-scale semantic averaging</a:t>
            </a:r>
            <a:endParaRPr lang="en-US" sz="2400" dirty="0"/>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7</a:t>
            </a:fld>
            <a:endParaRPr lang="en-GB"/>
          </a:p>
        </p:txBody>
      </p:sp>
      <p:sp>
        <p:nvSpPr>
          <p:cNvPr id="4" name="Text 0">
            <a:extLst>
              <a:ext uri="{FF2B5EF4-FFF2-40B4-BE49-F238E27FC236}">
                <a16:creationId xmlns:a16="http://schemas.microsoft.com/office/drawing/2014/main" id="{10CB78B1-B84D-77A3-7194-2FF1F9D1EF1F}"/>
              </a:ext>
            </a:extLst>
          </p:cNvPr>
          <p:cNvSpPr/>
          <p:nvPr/>
        </p:nvSpPr>
        <p:spPr>
          <a:xfrm>
            <a:off x="457200" y="274320"/>
            <a:ext cx="8229600" cy="731520"/>
          </a:xfrm>
          <a:prstGeom prst="rect">
            <a:avLst/>
          </a:prstGeom>
          <a:noFill/>
          <a:ln/>
        </p:spPr>
        <p:txBody>
          <a:bodyPr wrap="square" rtlCol="0" anchor="ctr"/>
          <a:lstStyle/>
          <a:p>
            <a:pPr marL="0" indent="0">
              <a:buNone/>
            </a:pPr>
            <a:r>
              <a:rPr lang="en-US" sz="2800" b="1" dirty="0">
                <a:solidFill>
                  <a:srgbClr val="003366"/>
                </a:solidFill>
              </a:rPr>
              <a:t>OBJECTIVES OF THE STUDY</a:t>
            </a:r>
            <a:endParaRPr lang="en-US" sz="2800" dirty="0"/>
          </a:p>
        </p:txBody>
      </p:sp>
      <p:sp>
        <p:nvSpPr>
          <p:cNvPr id="6" name="Text 1">
            <a:extLst>
              <a:ext uri="{FF2B5EF4-FFF2-40B4-BE49-F238E27FC236}">
                <a16:creationId xmlns:a16="http://schemas.microsoft.com/office/drawing/2014/main" id="{D715348C-A827-230A-1978-1787FC30BF16}"/>
              </a:ext>
            </a:extLst>
          </p:cNvPr>
          <p:cNvSpPr/>
          <p:nvPr/>
        </p:nvSpPr>
        <p:spPr>
          <a:xfrm>
            <a:off x="407963" y="977704"/>
            <a:ext cx="8229600" cy="5029200"/>
          </a:xfrm>
          <a:prstGeom prst="rect">
            <a:avLst/>
          </a:prstGeom>
          <a:noFill/>
          <a:ln/>
        </p:spPr>
        <p:txBody>
          <a:bodyPr wrap="square" rtlCol="0" anchor="t"/>
          <a:lstStyle/>
          <a:p>
            <a:pPr>
              <a:lnSpc>
                <a:spcPct val="150000"/>
              </a:lnSpc>
            </a:pPr>
            <a:r>
              <a:rPr lang="en-GB" dirty="0"/>
              <a:t>The specific objectives of this study are to:</a:t>
            </a:r>
            <a:endParaRPr lang="en-US" dirty="0"/>
          </a:p>
          <a:p>
            <a:pPr marL="342900" marR="0" lvl="0" indent="-342900" algn="just">
              <a:lnSpc>
                <a:spcPct val="150000"/>
              </a:lnSpc>
              <a:spcBef>
                <a:spcPts val="0"/>
              </a:spcBef>
              <a:spcAft>
                <a:spcPts val="800"/>
              </a:spcAft>
              <a:buFont typeface="+mj-lt"/>
              <a:buAutoNum type="romanLcPeriod"/>
              <a:tabLst>
                <a:tab pos="269875" algn="l"/>
              </a:tabLst>
            </a:pPr>
            <a:r>
              <a:rPr lang="en-GB" sz="1400" dirty="0">
                <a:effectLst/>
                <a:latin typeface="+mj-lt"/>
                <a:ea typeface="DengXian" panose="02010600030101010101" pitchFamily="2" charset="-122"/>
                <a:cs typeface="Times New Roman" panose="02020603050405020304" pitchFamily="18" charset="0"/>
              </a:rPr>
              <a:t>To identify existing literature on semi-fragile and cryptographic watermarking, geometric attack, and semantic similarity-based evaluation.</a:t>
            </a:r>
            <a:endParaRPr lang="en-US" sz="1400" dirty="0">
              <a:effectLst/>
              <a:latin typeface="+mj-lt"/>
              <a:ea typeface="DengXian" panose="02010600030101010101" pitchFamily="2" charset="-122"/>
              <a:cs typeface="Times New Roman" panose="02020603050405020304" pitchFamily="18" charset="0"/>
            </a:endParaRPr>
          </a:p>
          <a:p>
            <a:pPr marL="342900" marR="0" lvl="0" indent="-342900" algn="just">
              <a:lnSpc>
                <a:spcPct val="150000"/>
              </a:lnSpc>
              <a:spcBef>
                <a:spcPts val="0"/>
              </a:spcBef>
              <a:spcAft>
                <a:spcPts val="800"/>
              </a:spcAft>
              <a:buFont typeface="+mj-lt"/>
              <a:buAutoNum type="romanLcPeriod"/>
              <a:tabLst>
                <a:tab pos="269875" algn="l"/>
              </a:tabLst>
            </a:pPr>
            <a:r>
              <a:rPr lang="en-GB" sz="1400" dirty="0">
                <a:effectLst/>
                <a:latin typeface="+mj-lt"/>
                <a:ea typeface="DengXian" panose="02010600030101010101" pitchFamily="2" charset="-122"/>
                <a:cs typeface="Times New Roman" panose="02020603050405020304" pitchFamily="18" charset="0"/>
              </a:rPr>
              <a:t>To implement the </a:t>
            </a:r>
            <a:r>
              <a:rPr lang="en-GB" sz="1400" dirty="0" err="1">
                <a:effectLst/>
                <a:latin typeface="+mj-lt"/>
                <a:ea typeface="DengXian" panose="02010600030101010101" pitchFamily="2" charset="-122"/>
                <a:cs typeface="Times New Roman" panose="02020603050405020304" pitchFamily="18" charset="0"/>
              </a:rPr>
              <a:t>MetaSeal</a:t>
            </a:r>
            <a:r>
              <a:rPr lang="en-GB" sz="1400" dirty="0">
                <a:effectLst/>
                <a:latin typeface="+mj-lt"/>
                <a:ea typeface="DengXian" panose="02010600030101010101" pitchFamily="2" charset="-122"/>
                <a:cs typeface="Times New Roman" panose="02020603050405020304" pitchFamily="18" charset="0"/>
              </a:rPr>
              <a:t> pipeline on the dataset and measure </a:t>
            </a:r>
            <a:r>
              <a:rPr lang="en-GB" sz="1400" dirty="0" err="1">
                <a:effectLst/>
                <a:latin typeface="+mj-lt"/>
                <a:ea typeface="DengXian" panose="02010600030101010101" pitchFamily="2" charset="-122"/>
                <a:cs typeface="Times New Roman" panose="02020603050405020304" pitchFamily="18" charset="0"/>
              </a:rPr>
              <a:t>MetaSeal’s</a:t>
            </a:r>
            <a:r>
              <a:rPr lang="en-GB" sz="1400" dirty="0">
                <a:effectLst/>
                <a:latin typeface="+mj-lt"/>
                <a:ea typeface="DengXian" panose="02010600030101010101" pitchFamily="2" charset="-122"/>
                <a:cs typeface="Times New Roman" panose="02020603050405020304" pitchFamily="18" charset="0"/>
              </a:rPr>
              <a:t> Verification Success Rate (VSR) and QR recovery accuracy for each attack configuration on a matrix of five geometric and spatial attack types across multiple intensity levels. </a:t>
            </a:r>
            <a:endParaRPr lang="en-US" sz="1400" dirty="0">
              <a:effectLst/>
              <a:latin typeface="+mj-lt"/>
              <a:ea typeface="DengXian" panose="02010600030101010101" pitchFamily="2" charset="-122"/>
              <a:cs typeface="Times New Roman" panose="02020603050405020304" pitchFamily="18" charset="0"/>
            </a:endParaRPr>
          </a:p>
          <a:p>
            <a:pPr marL="342900" marR="0" lvl="0" indent="-342900" algn="just">
              <a:lnSpc>
                <a:spcPct val="150000"/>
              </a:lnSpc>
              <a:spcBef>
                <a:spcPts val="0"/>
              </a:spcBef>
              <a:spcAft>
                <a:spcPts val="800"/>
              </a:spcAft>
              <a:buFont typeface="+mj-lt"/>
              <a:buAutoNum type="romanLcPeriod"/>
              <a:tabLst>
                <a:tab pos="269875" algn="l"/>
              </a:tabLst>
            </a:pPr>
            <a:r>
              <a:rPr lang="en-GB" sz="1400" dirty="0">
                <a:effectLst/>
                <a:latin typeface="+mj-lt"/>
                <a:ea typeface="DengXian" panose="02010600030101010101" pitchFamily="2" charset="-122"/>
                <a:cs typeface="Times New Roman" panose="02020603050405020304" pitchFamily="18" charset="0"/>
              </a:rPr>
              <a:t>To implement the large-scale semantic averaging attack using CLIP-based clustering and pixel-wise residual averaging at N = 50, 200, 500, and 1,000 semantically similar images.</a:t>
            </a:r>
            <a:endParaRPr lang="en-US" sz="1400" dirty="0">
              <a:effectLst/>
              <a:latin typeface="+mj-lt"/>
              <a:ea typeface="DengXian" panose="02010600030101010101" pitchFamily="2" charset="-122"/>
              <a:cs typeface="Times New Roman" panose="02020603050405020304" pitchFamily="18" charset="0"/>
            </a:endParaRPr>
          </a:p>
          <a:p>
            <a:pPr marL="342900" marR="0" lvl="0" indent="-342900" algn="just">
              <a:lnSpc>
                <a:spcPct val="150000"/>
              </a:lnSpc>
              <a:spcBef>
                <a:spcPts val="0"/>
              </a:spcBef>
              <a:spcAft>
                <a:spcPts val="800"/>
              </a:spcAft>
              <a:buFont typeface="+mj-lt"/>
              <a:buAutoNum type="romanLcPeriod"/>
              <a:tabLst>
                <a:tab pos="269875" algn="l"/>
              </a:tabLst>
            </a:pPr>
            <a:r>
              <a:rPr lang="en-GB" sz="1400" dirty="0">
                <a:effectLst/>
                <a:latin typeface="+mj-lt"/>
                <a:ea typeface="DengXian" panose="02010600030101010101" pitchFamily="2" charset="-122"/>
                <a:cs typeface="Times New Roman" panose="02020603050405020304" pitchFamily="18" charset="0"/>
              </a:rPr>
              <a:t>To evaluate the result of both experiments using VSR, QR Recovery Accuracy, PSNR, SSIM, and LPIPS</a:t>
            </a:r>
            <a:r>
              <a:rPr lang="en-GB" sz="18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8</a:t>
            </a:fld>
            <a:endParaRPr lang="en-GB"/>
          </a:p>
        </p:txBody>
      </p:sp>
      <p:sp>
        <p:nvSpPr>
          <p:cNvPr id="6" name="Text 0">
            <a:extLst>
              <a:ext uri="{FF2B5EF4-FFF2-40B4-BE49-F238E27FC236}">
                <a16:creationId xmlns:a16="http://schemas.microsoft.com/office/drawing/2014/main" id="{C0D0B0EC-7C64-37BC-A794-87BA27AA1FD9}"/>
              </a:ext>
            </a:extLst>
          </p:cNvPr>
          <p:cNvSpPr/>
          <p:nvPr/>
        </p:nvSpPr>
        <p:spPr>
          <a:xfrm>
            <a:off x="457200" y="274320"/>
            <a:ext cx="8229600" cy="731520"/>
          </a:xfrm>
          <a:prstGeom prst="rect">
            <a:avLst/>
          </a:prstGeom>
          <a:noFill/>
          <a:ln/>
        </p:spPr>
        <p:txBody>
          <a:bodyPr wrap="square" rtlCol="0" anchor="ctr"/>
          <a:lstStyle/>
          <a:p>
            <a:pPr marL="0" indent="0">
              <a:buNone/>
            </a:pPr>
            <a:r>
              <a:rPr lang="en-US" sz="2800" b="1" dirty="0">
                <a:solidFill>
                  <a:srgbClr val="003366"/>
                </a:solidFill>
              </a:rPr>
              <a:t>OBJECTIVE-METHODOLOGY MAPPING</a:t>
            </a:r>
            <a:endParaRPr lang="en-US" sz="2800" dirty="0"/>
          </a:p>
        </p:txBody>
      </p:sp>
      <p:graphicFrame>
        <p:nvGraphicFramePr>
          <p:cNvPr id="7" name="Table 6">
            <a:extLst>
              <a:ext uri="{FF2B5EF4-FFF2-40B4-BE49-F238E27FC236}">
                <a16:creationId xmlns:a16="http://schemas.microsoft.com/office/drawing/2014/main" id="{131E763D-89BD-48F6-E4D3-B3416D028000}"/>
              </a:ext>
            </a:extLst>
          </p:cNvPr>
          <p:cNvGraphicFramePr>
            <a:graphicFrameLocks noGrp="1"/>
          </p:cNvGraphicFramePr>
          <p:nvPr>
            <p:extLst>
              <p:ext uri="{D42A27DB-BD31-4B8C-83A1-F6EECF244321}">
                <p14:modId xmlns:p14="http://schemas.microsoft.com/office/powerpoint/2010/main" val="2451993992"/>
              </p:ext>
            </p:extLst>
          </p:nvPr>
        </p:nvGraphicFramePr>
        <p:xfrm>
          <a:off x="457200" y="1141307"/>
          <a:ext cx="8322732" cy="3515444"/>
        </p:xfrm>
        <a:graphic>
          <a:graphicData uri="http://schemas.openxmlformats.org/drawingml/2006/table">
            <a:tbl>
              <a:tblPr firstRow="1" bandRow="1">
                <a:tableStyleId>{5C22544A-7EE6-4342-B048-85BDC9FD1C3A}</a:tableStyleId>
              </a:tblPr>
              <a:tblGrid>
                <a:gridCol w="623308">
                  <a:extLst>
                    <a:ext uri="{9D8B030D-6E8A-4147-A177-3AD203B41FA5}">
                      <a16:colId xmlns:a16="http://schemas.microsoft.com/office/drawing/2014/main" val="1135842376"/>
                    </a:ext>
                  </a:extLst>
                </a:gridCol>
                <a:gridCol w="3525359">
                  <a:extLst>
                    <a:ext uri="{9D8B030D-6E8A-4147-A177-3AD203B41FA5}">
                      <a16:colId xmlns:a16="http://schemas.microsoft.com/office/drawing/2014/main" val="21656975"/>
                    </a:ext>
                  </a:extLst>
                </a:gridCol>
                <a:gridCol w="4174065">
                  <a:extLst>
                    <a:ext uri="{9D8B030D-6E8A-4147-A177-3AD203B41FA5}">
                      <a16:colId xmlns:a16="http://schemas.microsoft.com/office/drawing/2014/main" val="4123853341"/>
                    </a:ext>
                  </a:extLst>
                </a:gridCol>
              </a:tblGrid>
              <a:tr h="348743">
                <a:tc>
                  <a:txBody>
                    <a:bodyPr/>
                    <a:lstStyle/>
                    <a:p>
                      <a:endParaRPr lang="en-US" dirty="0"/>
                    </a:p>
                  </a:txBody>
                  <a:tcPr/>
                </a:tc>
                <a:tc>
                  <a:txBody>
                    <a:bodyPr/>
                    <a:lstStyle/>
                    <a:p>
                      <a:r>
                        <a:rPr lang="en-US" dirty="0"/>
                        <a:t>Objectives</a:t>
                      </a:r>
                    </a:p>
                  </a:txBody>
                  <a:tcPr/>
                </a:tc>
                <a:tc>
                  <a:txBody>
                    <a:bodyPr/>
                    <a:lstStyle/>
                    <a:p>
                      <a:r>
                        <a:rPr lang="en-US" dirty="0"/>
                        <a:t>Methodology</a:t>
                      </a:r>
                    </a:p>
                  </a:txBody>
                  <a:tcPr/>
                </a:tc>
                <a:extLst>
                  <a:ext uri="{0D108BD9-81ED-4DB2-BD59-A6C34878D82A}">
                    <a16:rowId xmlns:a16="http://schemas.microsoft.com/office/drawing/2014/main" val="1937093898"/>
                  </a:ext>
                </a:extLst>
              </a:tr>
              <a:tr h="1311876">
                <a:tc>
                  <a:txBody>
                    <a:bodyPr/>
                    <a:lstStyle/>
                    <a:p>
                      <a:r>
                        <a:rPr lang="en-US" dirty="0"/>
                        <a:t>1</a:t>
                      </a:r>
                    </a:p>
                  </a:txBody>
                  <a:tcPr/>
                </a:tc>
                <a:tc>
                  <a:txBody>
                    <a:bodyPr/>
                    <a:lstStyle/>
                    <a:p>
                      <a:r>
                        <a:rPr lang="en-GB" sz="1600" kern="1200" dirty="0">
                          <a:solidFill>
                            <a:schemeClr val="dk1"/>
                          </a:solidFill>
                          <a:effectLst/>
                          <a:latin typeface="+mn-lt"/>
                          <a:ea typeface="+mn-ea"/>
                          <a:cs typeface="+mn-cs"/>
                        </a:rPr>
                        <a:t>Identify existing literature on semi-fragile and cryptographic watermarking, geometric attack, and semantic similarity-based evaluation</a:t>
                      </a:r>
                      <a:endParaRPr lang="en-US" sz="1600" dirty="0"/>
                    </a:p>
                  </a:txBody>
                  <a:tcPr/>
                </a:tc>
                <a:tc>
                  <a:txBody>
                    <a:bodyPr/>
                    <a:lstStyle/>
                    <a:p>
                      <a:r>
                        <a:rPr lang="en-GB" sz="1600" kern="1200" dirty="0">
                          <a:solidFill>
                            <a:schemeClr val="dk1"/>
                          </a:solidFill>
                          <a:effectLst/>
                          <a:latin typeface="+mn-lt"/>
                          <a:ea typeface="+mn-ea"/>
                          <a:cs typeface="+mn-cs"/>
                        </a:rPr>
                        <a:t>A systematic review of peer-reviewed literature on semi-fragile watermarking, DWT-domain cryptographic authentication, geometric robustness, and CLIP-based semantic similarity </a:t>
                      </a:r>
                      <a:endParaRPr sz="1200" dirty="0"/>
                    </a:p>
                  </a:txBody>
                  <a:tcPr/>
                </a:tc>
                <a:extLst>
                  <a:ext uri="{0D108BD9-81ED-4DB2-BD59-A6C34878D82A}">
                    <a16:rowId xmlns:a16="http://schemas.microsoft.com/office/drawing/2014/main" val="2095557639"/>
                  </a:ext>
                </a:extLst>
              </a:tr>
              <a:tr h="1837808">
                <a:tc>
                  <a:txBody>
                    <a:bodyPr/>
                    <a:lstStyle/>
                    <a:p>
                      <a:r>
                        <a:rPr lang="en-US" dirty="0"/>
                        <a:t>2</a:t>
                      </a:r>
                    </a:p>
                  </a:txBody>
                  <a:tcPr/>
                </a:tc>
                <a:tc>
                  <a:txBody>
                    <a:bodyPr/>
                    <a:lstStyle/>
                    <a:p>
                      <a:r>
                        <a:rPr lang="en-GB" sz="1600" kern="1200" dirty="0">
                          <a:solidFill>
                            <a:schemeClr val="dk1"/>
                          </a:solidFill>
                          <a:effectLst/>
                          <a:latin typeface="+mn-lt"/>
                          <a:ea typeface="+mn-ea"/>
                          <a:cs typeface="+mn-cs"/>
                        </a:rPr>
                        <a:t>Implement the </a:t>
                      </a:r>
                      <a:r>
                        <a:rPr lang="en-GB" sz="1600" kern="1200" dirty="0" err="1">
                          <a:solidFill>
                            <a:schemeClr val="dk1"/>
                          </a:solidFill>
                          <a:effectLst/>
                          <a:latin typeface="+mn-lt"/>
                          <a:ea typeface="+mn-ea"/>
                          <a:cs typeface="+mn-cs"/>
                        </a:rPr>
                        <a:t>MetaSeal</a:t>
                      </a:r>
                      <a:r>
                        <a:rPr lang="en-GB" sz="1600" kern="1200" dirty="0">
                          <a:solidFill>
                            <a:schemeClr val="dk1"/>
                          </a:solidFill>
                          <a:effectLst/>
                          <a:latin typeface="+mn-lt"/>
                          <a:ea typeface="+mn-ea"/>
                          <a:cs typeface="+mn-cs"/>
                        </a:rPr>
                        <a:t> pipeline on the dataset and measure </a:t>
                      </a:r>
                      <a:r>
                        <a:rPr lang="en-GB" sz="1600" kern="1200" dirty="0" err="1">
                          <a:solidFill>
                            <a:schemeClr val="dk1"/>
                          </a:solidFill>
                          <a:effectLst/>
                          <a:latin typeface="+mn-lt"/>
                          <a:ea typeface="+mn-ea"/>
                          <a:cs typeface="+mn-cs"/>
                        </a:rPr>
                        <a:t>MetaSeal’s</a:t>
                      </a:r>
                      <a:r>
                        <a:rPr lang="en-GB" sz="1600" kern="1200" dirty="0">
                          <a:solidFill>
                            <a:schemeClr val="dk1"/>
                          </a:solidFill>
                          <a:effectLst/>
                          <a:latin typeface="+mn-lt"/>
                          <a:ea typeface="+mn-ea"/>
                          <a:cs typeface="+mn-cs"/>
                        </a:rPr>
                        <a:t> Verification Success Rate (VSR) and QR recovery accuracy for each attack configuration on a matrix of five geometric and spatial attack types across multiple intensity levels. </a:t>
                      </a:r>
                      <a:endParaRPr lang="en-US" sz="1600" kern="1200" dirty="0">
                        <a:solidFill>
                          <a:schemeClr val="dk1"/>
                        </a:solidFill>
                        <a:effectLst/>
                        <a:latin typeface="+mn-lt"/>
                        <a:ea typeface="+mn-ea"/>
                        <a:cs typeface="+mn-cs"/>
                      </a:endParaRPr>
                    </a:p>
                  </a:txBody>
                  <a:tcPr/>
                </a:tc>
                <a:tc>
                  <a:txBody>
                    <a:bodyPr/>
                    <a:lstStyle/>
                    <a:p>
                      <a:pPr marL="400050" indent="-400050">
                        <a:buFont typeface="+mj-lt"/>
                        <a:buAutoNum type="romanLcPeriod"/>
                      </a:pPr>
                      <a:r>
                        <a:rPr lang="en-US" sz="1400" dirty="0"/>
                        <a:t>Implementation of </a:t>
                      </a:r>
                      <a:r>
                        <a:rPr lang="en-US" sz="1400" dirty="0" err="1"/>
                        <a:t>MetaSeal</a:t>
                      </a:r>
                      <a:r>
                        <a:rPr lang="en-US" sz="1400" dirty="0"/>
                        <a:t> and running the encoder on the </a:t>
                      </a:r>
                      <a:r>
                        <a:rPr lang="en-US" sz="1400" dirty="0" err="1"/>
                        <a:t>CelebA</a:t>
                      </a:r>
                      <a:r>
                        <a:rPr lang="en-US" sz="1400" dirty="0"/>
                        <a:t>-HQ dataset</a:t>
                      </a:r>
                    </a:p>
                    <a:p>
                      <a:pPr marL="400050" indent="-400050">
                        <a:buFont typeface="+mj-lt"/>
                        <a:buAutoNum type="romanLcPeriod"/>
                      </a:pPr>
                      <a:r>
                        <a:rPr lang="en-US" sz="1400" dirty="0"/>
                        <a:t>Apply a matrix of geometric and spatial attacks individually using the python </a:t>
                      </a:r>
                      <a:r>
                        <a:rPr lang="en-US" sz="1400" dirty="0" err="1"/>
                        <a:t>torchvision</a:t>
                      </a:r>
                      <a:r>
                        <a:rPr lang="en-US" sz="1400" dirty="0"/>
                        <a:t> module</a:t>
                      </a:r>
                    </a:p>
                    <a:p>
                      <a:pPr marL="400050" indent="-400050">
                        <a:buFont typeface="+mj-lt"/>
                        <a:buAutoNum type="romanLcPeriod"/>
                      </a:pPr>
                      <a:r>
                        <a:rPr lang="en-US" sz="1400" dirty="0"/>
                        <a:t>Verify the images that have passed through the attack matrix to record breaking values</a:t>
                      </a:r>
                      <a:endParaRPr sz="1400" dirty="0"/>
                    </a:p>
                  </a:txBody>
                  <a:tcPr/>
                </a:tc>
                <a:extLst>
                  <a:ext uri="{0D108BD9-81ED-4DB2-BD59-A6C34878D82A}">
                    <a16:rowId xmlns:a16="http://schemas.microsoft.com/office/drawing/2014/main" val="407918362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9</a:t>
            </a:fld>
            <a:endParaRPr lang="en-GB"/>
          </a:p>
        </p:txBody>
      </p:sp>
      <p:sp>
        <p:nvSpPr>
          <p:cNvPr id="4" name="Text 0">
            <a:extLst>
              <a:ext uri="{FF2B5EF4-FFF2-40B4-BE49-F238E27FC236}">
                <a16:creationId xmlns:a16="http://schemas.microsoft.com/office/drawing/2014/main" id="{0AAB22D6-2CE3-0C8F-65FE-82EE4F882A20}"/>
              </a:ext>
            </a:extLst>
          </p:cNvPr>
          <p:cNvSpPr/>
          <p:nvPr/>
        </p:nvSpPr>
        <p:spPr>
          <a:xfrm>
            <a:off x="457200" y="274320"/>
            <a:ext cx="8229600" cy="731520"/>
          </a:xfrm>
          <a:prstGeom prst="rect">
            <a:avLst/>
          </a:prstGeom>
          <a:noFill/>
          <a:ln/>
        </p:spPr>
        <p:txBody>
          <a:bodyPr wrap="square" rtlCol="0" anchor="ctr"/>
          <a:lstStyle/>
          <a:p>
            <a:r>
              <a:rPr lang="en-US" sz="2800" b="1" dirty="0">
                <a:solidFill>
                  <a:srgbClr val="003366"/>
                </a:solidFill>
              </a:rPr>
              <a:t>OBJECTIVE-METHODOLOGY MAPPING</a:t>
            </a:r>
            <a:endParaRPr lang="en-US" sz="2800" dirty="0"/>
          </a:p>
        </p:txBody>
      </p:sp>
      <p:graphicFrame>
        <p:nvGraphicFramePr>
          <p:cNvPr id="6" name="Table 5">
            <a:extLst>
              <a:ext uri="{FF2B5EF4-FFF2-40B4-BE49-F238E27FC236}">
                <a16:creationId xmlns:a16="http://schemas.microsoft.com/office/drawing/2014/main" id="{97ADE643-DD84-B3E2-B981-6C23D9032963}"/>
              </a:ext>
            </a:extLst>
          </p:cNvPr>
          <p:cNvGraphicFramePr>
            <a:graphicFrameLocks noGrp="1"/>
          </p:cNvGraphicFramePr>
          <p:nvPr>
            <p:extLst>
              <p:ext uri="{D42A27DB-BD31-4B8C-83A1-F6EECF244321}">
                <p14:modId xmlns:p14="http://schemas.microsoft.com/office/powerpoint/2010/main" val="3230515911"/>
              </p:ext>
            </p:extLst>
          </p:nvPr>
        </p:nvGraphicFramePr>
        <p:xfrm>
          <a:off x="457200" y="1159933"/>
          <a:ext cx="8322732" cy="3838081"/>
        </p:xfrm>
        <a:graphic>
          <a:graphicData uri="http://schemas.openxmlformats.org/drawingml/2006/table">
            <a:tbl>
              <a:tblPr firstRow="1" bandRow="1">
                <a:tableStyleId>{5C22544A-7EE6-4342-B048-85BDC9FD1C3A}</a:tableStyleId>
              </a:tblPr>
              <a:tblGrid>
                <a:gridCol w="623308">
                  <a:extLst>
                    <a:ext uri="{9D8B030D-6E8A-4147-A177-3AD203B41FA5}">
                      <a16:colId xmlns:a16="http://schemas.microsoft.com/office/drawing/2014/main" val="1135842376"/>
                    </a:ext>
                  </a:extLst>
                </a:gridCol>
                <a:gridCol w="3525359">
                  <a:extLst>
                    <a:ext uri="{9D8B030D-6E8A-4147-A177-3AD203B41FA5}">
                      <a16:colId xmlns:a16="http://schemas.microsoft.com/office/drawing/2014/main" val="21656975"/>
                    </a:ext>
                  </a:extLst>
                </a:gridCol>
                <a:gridCol w="4174065">
                  <a:extLst>
                    <a:ext uri="{9D8B030D-6E8A-4147-A177-3AD203B41FA5}">
                      <a16:colId xmlns:a16="http://schemas.microsoft.com/office/drawing/2014/main" val="4123853341"/>
                    </a:ext>
                  </a:extLst>
                </a:gridCol>
              </a:tblGrid>
              <a:tr h="582789">
                <a:tc>
                  <a:txBody>
                    <a:bodyPr/>
                    <a:lstStyle/>
                    <a:p>
                      <a:endParaRPr lang="en-US" dirty="0"/>
                    </a:p>
                  </a:txBody>
                  <a:tcPr/>
                </a:tc>
                <a:tc>
                  <a:txBody>
                    <a:bodyPr/>
                    <a:lstStyle/>
                    <a:p>
                      <a:r>
                        <a:rPr lang="en-US" dirty="0"/>
                        <a:t>Objectives</a:t>
                      </a:r>
                    </a:p>
                  </a:txBody>
                  <a:tcPr/>
                </a:tc>
                <a:tc>
                  <a:txBody>
                    <a:bodyPr/>
                    <a:lstStyle/>
                    <a:p>
                      <a:r>
                        <a:rPr lang="en-US" dirty="0"/>
                        <a:t>Methodology</a:t>
                      </a:r>
                    </a:p>
                  </a:txBody>
                  <a:tcPr/>
                </a:tc>
                <a:extLst>
                  <a:ext uri="{0D108BD9-81ED-4DB2-BD59-A6C34878D82A}">
                    <a16:rowId xmlns:a16="http://schemas.microsoft.com/office/drawing/2014/main" val="1937093898"/>
                  </a:ext>
                </a:extLst>
              </a:tr>
              <a:tr h="1456972">
                <a:tc>
                  <a:txBody>
                    <a:bodyPr/>
                    <a:lstStyle/>
                    <a:p>
                      <a:r>
                        <a:rPr lang="en-US" sz="1800">
                          <a:solidFill>
                            <a:srgbClr val="363636"/>
                          </a:solidFill>
                        </a:rPr>
                        <a:t>3</a:t>
                      </a:r>
                      <a:endParaRPr lang="en-US" sz="1800" dirty="0">
                        <a:solidFill>
                          <a:srgbClr val="363636"/>
                        </a:solidFill>
                      </a:endParaRPr>
                    </a:p>
                  </a:txBody>
                  <a:tcPr/>
                </a:tc>
                <a:tc>
                  <a:txBody>
                    <a:bodyPr/>
                    <a:lstStyle/>
                    <a:p>
                      <a:r>
                        <a:rPr lang="en-GB" sz="1800" kern="1200" dirty="0">
                          <a:solidFill>
                            <a:schemeClr val="dk1"/>
                          </a:solidFill>
                          <a:effectLst/>
                          <a:latin typeface="+mn-lt"/>
                          <a:ea typeface="+mn-ea"/>
                          <a:cs typeface="+mn-cs"/>
                        </a:rPr>
                        <a:t>Implement the large-scale semantic averaging attack using CLIP-based clustering and pixel-wise residual averaging at N = 50, 200, 500, and 1,000 semantically similar images.</a:t>
                      </a:r>
                      <a:endParaRPr lang="en-US" sz="1800" kern="1200" dirty="0">
                        <a:solidFill>
                          <a:schemeClr val="dk1"/>
                        </a:solidFill>
                        <a:effectLst/>
                        <a:latin typeface="+mn-lt"/>
                        <a:ea typeface="+mn-ea"/>
                        <a:cs typeface="+mn-cs"/>
                      </a:endParaRPr>
                    </a:p>
                  </a:txBody>
                  <a:tcPr/>
                </a:tc>
                <a:tc>
                  <a:txBody>
                    <a:bodyPr/>
                    <a:lstStyle/>
                    <a:p>
                      <a:pPr marL="400050" lvl="0" indent="-400050">
                        <a:buFont typeface="+mj-lt"/>
                        <a:buAutoNum type="romanLcPeriod"/>
                      </a:pPr>
                      <a:r>
                        <a:rPr lang="en-GB" sz="1400" kern="1200" dirty="0">
                          <a:solidFill>
                            <a:schemeClr val="dk1"/>
                          </a:solidFill>
                          <a:effectLst/>
                          <a:latin typeface="+mn-lt"/>
                          <a:ea typeface="+mn-ea"/>
                          <a:cs typeface="+mn-cs"/>
                        </a:rPr>
                        <a:t>Extract CLIP (</a:t>
                      </a:r>
                      <a:r>
                        <a:rPr lang="en-GB" sz="1400" kern="1200" dirty="0" err="1">
                          <a:solidFill>
                            <a:schemeClr val="dk1"/>
                          </a:solidFill>
                          <a:effectLst/>
                          <a:latin typeface="+mn-lt"/>
                          <a:ea typeface="+mn-ea"/>
                          <a:cs typeface="+mn-cs"/>
                        </a:rPr>
                        <a:t>ViT</a:t>
                      </a:r>
                      <a:r>
                        <a:rPr lang="en-GB" sz="1400" kern="1200" dirty="0">
                          <a:solidFill>
                            <a:schemeClr val="dk1"/>
                          </a:solidFill>
                          <a:effectLst/>
                          <a:latin typeface="+mn-lt"/>
                          <a:ea typeface="+mn-ea"/>
                          <a:cs typeface="+mn-cs"/>
                        </a:rPr>
                        <a:t>-B/32) embeddings for the watermarked images to cluster them by cosine similarity to the dataset centroid. </a:t>
                      </a:r>
                      <a:endParaRPr lang="en-US" sz="1400" kern="1200" dirty="0">
                        <a:solidFill>
                          <a:schemeClr val="dk1"/>
                        </a:solidFill>
                        <a:effectLst/>
                        <a:latin typeface="+mn-lt"/>
                        <a:ea typeface="+mn-ea"/>
                        <a:cs typeface="+mn-cs"/>
                      </a:endParaRPr>
                    </a:p>
                    <a:p>
                      <a:pPr marL="400050" lvl="0" indent="-400050">
                        <a:buFont typeface="+mj-lt"/>
                        <a:buAutoNum type="romanLcPeriod"/>
                      </a:pPr>
                      <a:r>
                        <a:rPr lang="en-GB" sz="1400" kern="1200" dirty="0">
                          <a:solidFill>
                            <a:schemeClr val="dk1"/>
                          </a:solidFill>
                          <a:effectLst/>
                          <a:latin typeface="+mn-lt"/>
                          <a:ea typeface="+mn-ea"/>
                          <a:cs typeface="+mn-cs"/>
                        </a:rPr>
                        <a:t>Compute the pixel-wise mean residual for the top-N semantically similar images at each target cluster size (N = 50, 200, 500, 1000)</a:t>
                      </a:r>
                      <a:endParaRPr lang="en-US" sz="1400" kern="1200" dirty="0">
                        <a:solidFill>
                          <a:schemeClr val="dk1"/>
                        </a:solidFill>
                        <a:effectLst/>
                        <a:latin typeface="+mn-lt"/>
                        <a:ea typeface="+mn-ea"/>
                        <a:cs typeface="+mn-cs"/>
                      </a:endParaRPr>
                    </a:p>
                    <a:p>
                      <a:pPr marL="400050" indent="-400050">
                        <a:buFont typeface="+mj-lt"/>
                        <a:buAutoNum type="romanLcPeriod"/>
                      </a:pPr>
                      <a:r>
                        <a:rPr lang="en-GB" sz="1400" kern="1200" dirty="0">
                          <a:solidFill>
                            <a:schemeClr val="dk1"/>
                          </a:solidFill>
                          <a:effectLst/>
                          <a:latin typeface="+mn-lt"/>
                          <a:ea typeface="+mn-ea"/>
                          <a:cs typeface="+mn-cs"/>
                        </a:rPr>
                        <a:t>Apply this mean residual to 20 held-out clean target images to simulate the forgery attempt</a:t>
                      </a:r>
                      <a:endParaRPr sz="1100" dirty="0"/>
                    </a:p>
                  </a:txBody>
                  <a:tcPr/>
                </a:tc>
                <a:extLst>
                  <a:ext uri="{0D108BD9-81ED-4DB2-BD59-A6C34878D82A}">
                    <a16:rowId xmlns:a16="http://schemas.microsoft.com/office/drawing/2014/main" val="2095557639"/>
                  </a:ext>
                </a:extLst>
              </a:tr>
              <a:tr h="1456972">
                <a:tc>
                  <a:txBody>
                    <a:bodyPr/>
                    <a:lstStyle/>
                    <a:p>
                      <a:r>
                        <a:rPr lang="en-US" sz="1800" dirty="0">
                          <a:solidFill>
                            <a:srgbClr val="363636"/>
                          </a:solidFill>
                        </a:rPr>
                        <a:t>4</a:t>
                      </a:r>
                    </a:p>
                  </a:txBody>
                  <a:tcPr/>
                </a:tc>
                <a:tc>
                  <a:txBody>
                    <a:bodyPr/>
                    <a:lstStyle/>
                    <a:p>
                      <a:r>
                        <a:rPr lang="en-GB" sz="1800" kern="1200" dirty="0">
                          <a:solidFill>
                            <a:schemeClr val="dk1"/>
                          </a:solidFill>
                          <a:effectLst/>
                          <a:latin typeface="+mn-lt"/>
                          <a:ea typeface="+mn-ea"/>
                          <a:cs typeface="+mn-cs"/>
                        </a:rPr>
                        <a:t>Evaluate the result of both experiments using VSR, QR Recovery Accuracy, PSNR, SSIM, and LPIPS.</a:t>
                      </a:r>
                      <a:endParaRPr lang="en-US" sz="1800" dirty="0">
                        <a:solidFill>
                          <a:srgbClr val="363636"/>
                        </a:solidFill>
                      </a:endParaRPr>
                    </a:p>
                  </a:txBody>
                  <a:tcPr/>
                </a:tc>
                <a:tc>
                  <a:txBody>
                    <a:bodyPr/>
                    <a:lstStyle/>
                    <a:p>
                      <a:pPr marL="0" indent="0">
                        <a:buFont typeface="+mj-lt"/>
                        <a:buNone/>
                      </a:pPr>
                      <a:r>
                        <a:rPr lang="en-GB" sz="1400" kern="1200" dirty="0">
                          <a:solidFill>
                            <a:schemeClr val="dk1"/>
                          </a:solidFill>
                          <a:effectLst/>
                          <a:latin typeface="+mn-lt"/>
                          <a:ea typeface="+mn-ea"/>
                          <a:cs typeface="+mn-cs"/>
                        </a:rPr>
                        <a:t>Apply the Wilcoxon signed-rank test for the geometric attacks and the Spearman rank correlation for the semantic averaging attack to assess statistical significance and identify vulnerability thresholds.</a:t>
                      </a:r>
                      <a:endParaRPr sz="1100" dirty="0"/>
                    </a:p>
                  </a:txBody>
                  <a:tcPr/>
                </a:tc>
                <a:extLst>
                  <a:ext uri="{0D108BD9-81ED-4DB2-BD59-A6C34878D82A}">
                    <a16:rowId xmlns:a16="http://schemas.microsoft.com/office/drawing/2014/main" val="407918362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10</a:t>
            </a:fld>
            <a:endParaRPr lang="en-GB"/>
          </a:p>
        </p:txBody>
      </p:sp>
      <p:sp>
        <p:nvSpPr>
          <p:cNvPr id="4" name="Text 0">
            <a:extLst>
              <a:ext uri="{FF2B5EF4-FFF2-40B4-BE49-F238E27FC236}">
                <a16:creationId xmlns:a16="http://schemas.microsoft.com/office/drawing/2014/main" id="{23B8A285-1593-CA3A-5C7B-E26D8A4AD089}"/>
              </a:ext>
            </a:extLst>
          </p:cNvPr>
          <p:cNvSpPr/>
          <p:nvPr/>
        </p:nvSpPr>
        <p:spPr>
          <a:xfrm>
            <a:off x="457200" y="274320"/>
            <a:ext cx="8229600" cy="731520"/>
          </a:xfrm>
          <a:prstGeom prst="rect">
            <a:avLst/>
          </a:prstGeom>
          <a:noFill/>
          <a:ln/>
        </p:spPr>
        <p:txBody>
          <a:bodyPr wrap="square" rtlCol="0" anchor="ctr"/>
          <a:lstStyle/>
          <a:p>
            <a:pPr>
              <a:buSzPct val="100000"/>
            </a:pPr>
            <a:r>
              <a:rPr lang="en-US" sz="2800" b="1" dirty="0">
                <a:solidFill>
                  <a:srgbClr val="002060"/>
                </a:solidFill>
              </a:rPr>
              <a:t>RESULT – OBJECTIVE 1</a:t>
            </a:r>
          </a:p>
        </p:txBody>
      </p:sp>
      <p:sp>
        <p:nvSpPr>
          <p:cNvPr id="6" name="Text 1">
            <a:extLst>
              <a:ext uri="{FF2B5EF4-FFF2-40B4-BE49-F238E27FC236}">
                <a16:creationId xmlns:a16="http://schemas.microsoft.com/office/drawing/2014/main" id="{6767574F-E404-1B74-4FF1-5773226079DD}"/>
              </a:ext>
            </a:extLst>
          </p:cNvPr>
          <p:cNvSpPr/>
          <p:nvPr/>
        </p:nvSpPr>
        <p:spPr>
          <a:xfrm>
            <a:off x="457200" y="1680270"/>
            <a:ext cx="8229600" cy="2663130"/>
          </a:xfrm>
          <a:prstGeom prst="rect">
            <a:avLst/>
          </a:prstGeom>
          <a:noFill/>
          <a:ln/>
        </p:spPr>
        <p:txBody>
          <a:bodyPr wrap="square" rtlCol="0" anchor="t"/>
          <a:lstStyle/>
          <a:p>
            <a:pPr marL="285750" indent="-285750">
              <a:buFont typeface="Arial" panose="020B0604020202020204" pitchFamily="34" charset="0"/>
              <a:buChar char="•"/>
            </a:pPr>
            <a:r>
              <a:rPr lang="en-US" sz="1600" b="1" dirty="0"/>
              <a:t>Literature Review </a:t>
            </a:r>
            <a:r>
              <a:rPr sz="1600" b="1" dirty="0"/>
              <a:t>Conducted: </a:t>
            </a:r>
            <a:r>
              <a:rPr sz="1600" dirty="0"/>
              <a:t>Evaluated industry-standard platforms including Jira, Trello, and Asana.</a:t>
            </a:r>
          </a:p>
          <a:p>
            <a:pPr marL="285750" indent="-285750">
              <a:buFont typeface="Arial" panose="020B0604020202020204" pitchFamily="34" charset="0"/>
              <a:buChar char="•"/>
            </a:pPr>
            <a:endParaRPr sz="1600" dirty="0"/>
          </a:p>
          <a:p>
            <a:pPr marL="285750" indent="-285750">
              <a:buFont typeface="Arial" panose="020B0604020202020204" pitchFamily="34" charset="0"/>
              <a:buChar char="•"/>
            </a:pPr>
            <a:r>
              <a:rPr sz="1600" b="1" dirty="0"/>
              <a:t>Identified Gaps: </a:t>
            </a:r>
            <a:r>
              <a:rPr sz="1600" dirty="0"/>
              <a:t>Traditional workflow tools are optimized for corporate tracking and lack built-in intelligence tailored for academic environments. Specifically, they fail to provide automated milestone generation and lack automated document submission auditing against rubrics.</a:t>
            </a:r>
          </a:p>
          <a:p>
            <a:pPr marL="285750" indent="-285750">
              <a:buFont typeface="Arial" panose="020B0604020202020204" pitchFamily="34" charset="0"/>
              <a:buChar char="•"/>
            </a:pPr>
            <a:endParaRPr sz="1600" dirty="0"/>
          </a:p>
          <a:p>
            <a:pPr marL="285750" indent="-285750">
              <a:buFont typeface="Arial" panose="020B0604020202020204" pitchFamily="34" charset="0"/>
              <a:buChar char="•"/>
            </a:pPr>
            <a:r>
              <a:rPr sz="1600" b="1" dirty="0"/>
              <a:t>Derived Requirements: </a:t>
            </a:r>
            <a:r>
              <a:rPr sz="1600" dirty="0"/>
              <a:t>Need for strict Role-based access control, intelligent unstructured input processing, and real-time state synchronization.</a:t>
            </a:r>
          </a:p>
        </p:txBody>
      </p:sp>
      <p:sp>
        <p:nvSpPr>
          <p:cNvPr id="7" name="TextBox 6">
            <a:extLst>
              <a:ext uri="{FF2B5EF4-FFF2-40B4-BE49-F238E27FC236}">
                <a16:creationId xmlns:a16="http://schemas.microsoft.com/office/drawing/2014/main" id="{C05C72F8-5BBC-FABB-1228-9AD2C604BE63}"/>
              </a:ext>
            </a:extLst>
          </p:cNvPr>
          <p:cNvSpPr txBox="1"/>
          <p:nvPr/>
        </p:nvSpPr>
        <p:spPr>
          <a:xfrm>
            <a:off x="457200" y="1005840"/>
            <a:ext cx="7283152" cy="646331"/>
          </a:xfrm>
          <a:prstGeom prst="rect">
            <a:avLst/>
          </a:prstGeom>
          <a:noFill/>
        </p:spPr>
        <p:txBody>
          <a:bodyPr wrap="square">
            <a:spAutoFit/>
          </a:bodyPr>
          <a:lstStyle/>
          <a:p>
            <a:r>
              <a:rPr lang="en-US" b="1" dirty="0">
                <a:solidFill>
                  <a:srgbClr val="363636"/>
                </a:solidFill>
              </a:rPr>
              <a:t>Identify existing literature on semi-fragile and cryptographic watermarking, geometric attack, and semantic similarity-based evaluation</a:t>
            </a:r>
            <a:endParaRPr lang="en-US" b="1" dirty="0"/>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11</a:t>
            </a:fld>
            <a:endParaRPr lang="en-GB"/>
          </a:p>
        </p:txBody>
      </p:sp>
      <p:sp>
        <p:nvSpPr>
          <p:cNvPr id="4" name="Text 0">
            <a:extLst>
              <a:ext uri="{FF2B5EF4-FFF2-40B4-BE49-F238E27FC236}">
                <a16:creationId xmlns:a16="http://schemas.microsoft.com/office/drawing/2014/main" id="{F54504AB-026A-17C7-7AAE-BB0DE5A15555}"/>
              </a:ext>
            </a:extLst>
          </p:cNvPr>
          <p:cNvSpPr/>
          <p:nvPr/>
        </p:nvSpPr>
        <p:spPr>
          <a:xfrm>
            <a:off x="457200" y="274320"/>
            <a:ext cx="8229600" cy="731520"/>
          </a:xfrm>
          <a:prstGeom prst="rect">
            <a:avLst/>
          </a:prstGeom>
          <a:noFill/>
          <a:ln/>
        </p:spPr>
        <p:txBody>
          <a:bodyPr wrap="square" rtlCol="0" anchor="ctr"/>
          <a:lstStyle/>
          <a:p>
            <a:pPr>
              <a:buSzPct val="100000"/>
            </a:pPr>
            <a:r>
              <a:rPr lang="en-US" sz="2800" b="1" dirty="0">
                <a:solidFill>
                  <a:srgbClr val="002060"/>
                </a:solidFill>
              </a:rPr>
              <a:t>RESULT – OBJECTIVE 2</a:t>
            </a:r>
          </a:p>
        </p:txBody>
      </p:sp>
      <p:sp>
        <p:nvSpPr>
          <p:cNvPr id="6" name="Text 1">
            <a:extLst>
              <a:ext uri="{FF2B5EF4-FFF2-40B4-BE49-F238E27FC236}">
                <a16:creationId xmlns:a16="http://schemas.microsoft.com/office/drawing/2014/main" id="{3E07ADD3-6B2D-8850-01F9-1BE7745E9914}"/>
              </a:ext>
            </a:extLst>
          </p:cNvPr>
          <p:cNvSpPr/>
          <p:nvPr/>
        </p:nvSpPr>
        <p:spPr>
          <a:xfrm>
            <a:off x="5385816" y="1971758"/>
            <a:ext cx="3300984" cy="420624"/>
          </a:xfrm>
          <a:prstGeom prst="rect">
            <a:avLst/>
          </a:prstGeom>
          <a:noFill/>
          <a:ln/>
        </p:spPr>
        <p:txBody>
          <a:bodyPr wrap="square" rtlCol="0" anchor="t"/>
          <a:lstStyle/>
          <a:p>
            <a:r>
              <a:rPr lang="en-US" sz="1600" b="1" dirty="0"/>
              <a:t>Applied 5 different Geometric Attacks to Separate Sets of Images</a:t>
            </a:r>
            <a:endParaRPr sz="1600" b="1" dirty="0"/>
          </a:p>
          <a:p>
            <a:endParaRPr sz="1600" dirty="0"/>
          </a:p>
        </p:txBody>
      </p:sp>
      <p:sp>
        <p:nvSpPr>
          <p:cNvPr id="8" name="TextBox 7">
            <a:extLst>
              <a:ext uri="{FF2B5EF4-FFF2-40B4-BE49-F238E27FC236}">
                <a16:creationId xmlns:a16="http://schemas.microsoft.com/office/drawing/2014/main" id="{28C36BF5-EBEE-C324-D8D5-C1F6669FD84C}"/>
              </a:ext>
            </a:extLst>
          </p:cNvPr>
          <p:cNvSpPr txBox="1"/>
          <p:nvPr/>
        </p:nvSpPr>
        <p:spPr>
          <a:xfrm>
            <a:off x="5385816" y="2625130"/>
            <a:ext cx="3611880" cy="2031325"/>
          </a:xfrm>
          <a:prstGeom prst="rect">
            <a:avLst/>
          </a:prstGeom>
          <a:noFill/>
        </p:spPr>
        <p:txBody>
          <a:bodyPr wrap="square">
            <a:spAutoFit/>
          </a:bodyPr>
          <a:lstStyle/>
          <a:p>
            <a:r>
              <a:rPr lang="en-US" sz="1800" dirty="0"/>
              <a:t>Deliverables included:</a:t>
            </a:r>
          </a:p>
          <a:p>
            <a:r>
              <a:rPr lang="en-US" sz="1800" dirty="0"/>
              <a:t>- Implement </a:t>
            </a:r>
            <a:r>
              <a:rPr lang="en-US" sz="1800" dirty="0" err="1"/>
              <a:t>Metaseal</a:t>
            </a:r>
            <a:r>
              <a:rPr lang="en-US" sz="1800" dirty="0"/>
              <a:t> pipeline on the dataset of images</a:t>
            </a:r>
          </a:p>
          <a:p>
            <a:r>
              <a:rPr lang="en-US" sz="1800" dirty="0"/>
              <a:t>- Write code to automate geometric attac</a:t>
            </a:r>
            <a:r>
              <a:rPr lang="en-US" dirty="0"/>
              <a:t>ks to be tested</a:t>
            </a:r>
            <a:endParaRPr lang="en-US" sz="1800" dirty="0"/>
          </a:p>
          <a:p>
            <a:r>
              <a:rPr lang="en-US" sz="1800" dirty="0"/>
              <a:t>- </a:t>
            </a:r>
            <a:r>
              <a:rPr lang="en-US" dirty="0"/>
              <a:t>Test attacks at varying levels of intensity and record results</a:t>
            </a:r>
            <a:endParaRPr lang="en-US" sz="1800" dirty="0"/>
          </a:p>
        </p:txBody>
      </p:sp>
      <p:sp>
        <p:nvSpPr>
          <p:cNvPr id="9" name="TextBox 8">
            <a:extLst>
              <a:ext uri="{FF2B5EF4-FFF2-40B4-BE49-F238E27FC236}">
                <a16:creationId xmlns:a16="http://schemas.microsoft.com/office/drawing/2014/main" id="{781060AA-E249-738E-5A4C-9E4D87C80546}"/>
              </a:ext>
            </a:extLst>
          </p:cNvPr>
          <p:cNvSpPr txBox="1"/>
          <p:nvPr/>
        </p:nvSpPr>
        <p:spPr>
          <a:xfrm>
            <a:off x="251520" y="888634"/>
            <a:ext cx="8568952" cy="830997"/>
          </a:xfrm>
          <a:prstGeom prst="rect">
            <a:avLst/>
          </a:prstGeom>
          <a:noFill/>
        </p:spPr>
        <p:txBody>
          <a:bodyPr wrap="square">
            <a:spAutoFit/>
          </a:bodyPr>
          <a:lstStyle/>
          <a:p>
            <a:r>
              <a:rPr lang="en-US" sz="1600" b="1" dirty="0">
                <a:solidFill>
                  <a:srgbClr val="363636"/>
                </a:solidFill>
              </a:rPr>
              <a:t>implement the </a:t>
            </a:r>
            <a:r>
              <a:rPr lang="en-US" sz="1600" b="1" dirty="0" err="1">
                <a:solidFill>
                  <a:srgbClr val="363636"/>
                </a:solidFill>
              </a:rPr>
              <a:t>MetaSeal</a:t>
            </a:r>
            <a:r>
              <a:rPr lang="en-US" sz="1600" b="1" dirty="0">
                <a:solidFill>
                  <a:srgbClr val="363636"/>
                </a:solidFill>
              </a:rPr>
              <a:t> pipeline on the dataset and measure </a:t>
            </a:r>
            <a:r>
              <a:rPr lang="en-US" sz="1600" b="1" dirty="0" err="1">
                <a:solidFill>
                  <a:srgbClr val="363636"/>
                </a:solidFill>
              </a:rPr>
              <a:t>MetaSeal’s</a:t>
            </a:r>
            <a:r>
              <a:rPr lang="en-US" sz="1600" b="1" dirty="0">
                <a:solidFill>
                  <a:srgbClr val="363636"/>
                </a:solidFill>
              </a:rPr>
              <a:t> Verification Success Rate (VSR) and QR recovery accuracy for each attack configuration on a matrix of five geometric and spatial attack types across multiple intensity levels</a:t>
            </a:r>
            <a:endParaRPr lang="en-US" sz="1600" b="1" dirty="0"/>
          </a:p>
        </p:txBody>
      </p:sp>
      <p:pic>
        <p:nvPicPr>
          <p:cNvPr id="5" name="Picture 4">
            <a:extLst>
              <a:ext uri="{FF2B5EF4-FFF2-40B4-BE49-F238E27FC236}">
                <a16:creationId xmlns:a16="http://schemas.microsoft.com/office/drawing/2014/main" id="{FD1F3988-E582-41EE-9E10-FC253A3FB344}"/>
              </a:ext>
            </a:extLst>
          </p:cNvPr>
          <p:cNvPicPr>
            <a:picLocks noChangeAspect="1"/>
          </p:cNvPicPr>
          <p:nvPr/>
        </p:nvPicPr>
        <p:blipFill>
          <a:blip r:embed="rId3"/>
          <a:stretch>
            <a:fillRect/>
          </a:stretch>
        </p:blipFill>
        <p:spPr>
          <a:xfrm>
            <a:off x="395536" y="2031325"/>
            <a:ext cx="3535529" cy="2625130"/>
          </a:xfrm>
          <a:prstGeom prst="rect">
            <a:avLst/>
          </a:prstGeom>
        </p:spPr>
      </p:pic>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12</a:t>
            </a:fld>
            <a:endParaRPr lang="en-GB"/>
          </a:p>
        </p:txBody>
      </p:sp>
      <p:sp>
        <p:nvSpPr>
          <p:cNvPr id="4" name="Text 0">
            <a:extLst>
              <a:ext uri="{FF2B5EF4-FFF2-40B4-BE49-F238E27FC236}">
                <a16:creationId xmlns:a16="http://schemas.microsoft.com/office/drawing/2014/main" id="{F54504AB-026A-17C7-7AAE-BB0DE5A15555}"/>
              </a:ext>
            </a:extLst>
          </p:cNvPr>
          <p:cNvSpPr/>
          <p:nvPr/>
        </p:nvSpPr>
        <p:spPr>
          <a:xfrm>
            <a:off x="457200" y="274320"/>
            <a:ext cx="8229600" cy="731520"/>
          </a:xfrm>
          <a:prstGeom prst="rect">
            <a:avLst/>
          </a:prstGeom>
          <a:noFill/>
          <a:ln/>
        </p:spPr>
        <p:txBody>
          <a:bodyPr wrap="square" rtlCol="0" anchor="ctr"/>
          <a:lstStyle/>
          <a:p>
            <a:pPr>
              <a:buSzPct val="100000"/>
            </a:pPr>
            <a:r>
              <a:rPr lang="en-US" sz="2800" b="1" dirty="0">
                <a:solidFill>
                  <a:srgbClr val="002060"/>
                </a:solidFill>
              </a:rPr>
              <a:t>RESULT – OBJECTIVE 2</a:t>
            </a:r>
          </a:p>
        </p:txBody>
      </p:sp>
      <p:sp>
        <p:nvSpPr>
          <p:cNvPr id="6" name="Text 1">
            <a:extLst>
              <a:ext uri="{FF2B5EF4-FFF2-40B4-BE49-F238E27FC236}">
                <a16:creationId xmlns:a16="http://schemas.microsoft.com/office/drawing/2014/main" id="{3E07ADD3-6B2D-8850-01F9-1BE7745E9914}"/>
              </a:ext>
            </a:extLst>
          </p:cNvPr>
          <p:cNvSpPr/>
          <p:nvPr/>
        </p:nvSpPr>
        <p:spPr>
          <a:xfrm>
            <a:off x="5385816" y="1971758"/>
            <a:ext cx="3300984" cy="420624"/>
          </a:xfrm>
          <a:prstGeom prst="rect">
            <a:avLst/>
          </a:prstGeom>
          <a:noFill/>
          <a:ln/>
        </p:spPr>
        <p:txBody>
          <a:bodyPr wrap="square" rtlCol="0" anchor="t"/>
          <a:lstStyle/>
          <a:p>
            <a:r>
              <a:rPr sz="1600" b="1" dirty="0"/>
              <a:t>Designed a </a:t>
            </a:r>
            <a:r>
              <a:rPr lang="en-US" sz="1600" b="1" dirty="0"/>
              <a:t>3-layer</a:t>
            </a:r>
            <a:r>
              <a:rPr sz="1600" b="1" dirty="0"/>
              <a:t> system architecture </a:t>
            </a:r>
            <a:r>
              <a:rPr lang="en-US" sz="1600" b="1" dirty="0"/>
              <a:t>with</a:t>
            </a:r>
            <a:r>
              <a:rPr sz="1600" b="1" dirty="0"/>
              <a:t> UML diagrams.</a:t>
            </a:r>
          </a:p>
          <a:p>
            <a:endParaRPr sz="1600" dirty="0"/>
          </a:p>
        </p:txBody>
      </p:sp>
      <p:sp>
        <p:nvSpPr>
          <p:cNvPr id="8" name="TextBox 7">
            <a:extLst>
              <a:ext uri="{FF2B5EF4-FFF2-40B4-BE49-F238E27FC236}">
                <a16:creationId xmlns:a16="http://schemas.microsoft.com/office/drawing/2014/main" id="{28C36BF5-EBEE-C324-D8D5-C1F6669FD84C}"/>
              </a:ext>
            </a:extLst>
          </p:cNvPr>
          <p:cNvSpPr txBox="1"/>
          <p:nvPr/>
        </p:nvSpPr>
        <p:spPr>
          <a:xfrm>
            <a:off x="5385816" y="2625130"/>
            <a:ext cx="3611880" cy="2031325"/>
          </a:xfrm>
          <a:prstGeom prst="rect">
            <a:avLst/>
          </a:prstGeom>
          <a:noFill/>
        </p:spPr>
        <p:txBody>
          <a:bodyPr wrap="square">
            <a:spAutoFit/>
          </a:bodyPr>
          <a:lstStyle/>
          <a:p>
            <a:r>
              <a:rPr lang="en-US" sz="1800" dirty="0"/>
              <a:t>Deliverables included:</a:t>
            </a:r>
          </a:p>
          <a:p>
            <a:r>
              <a:rPr lang="en-US" sz="1800" dirty="0"/>
              <a:t>- Use Case diagrams mapping student-lecturer interactions.</a:t>
            </a:r>
          </a:p>
          <a:p>
            <a:r>
              <a:rPr lang="en-US" sz="1800" dirty="0"/>
              <a:t>- Sequence diagrams detailing data flow.</a:t>
            </a:r>
          </a:p>
          <a:p>
            <a:r>
              <a:rPr lang="en-US" sz="1800" dirty="0"/>
              <a:t>- A comprehensive Relational Database Schema.</a:t>
            </a:r>
          </a:p>
        </p:txBody>
      </p:sp>
      <p:sp>
        <p:nvSpPr>
          <p:cNvPr id="9" name="TextBox 8">
            <a:extLst>
              <a:ext uri="{FF2B5EF4-FFF2-40B4-BE49-F238E27FC236}">
                <a16:creationId xmlns:a16="http://schemas.microsoft.com/office/drawing/2014/main" id="{781060AA-E249-738E-5A4C-9E4D87C80546}"/>
              </a:ext>
            </a:extLst>
          </p:cNvPr>
          <p:cNvSpPr txBox="1"/>
          <p:nvPr/>
        </p:nvSpPr>
        <p:spPr>
          <a:xfrm>
            <a:off x="251520" y="888634"/>
            <a:ext cx="8568952" cy="830997"/>
          </a:xfrm>
          <a:prstGeom prst="rect">
            <a:avLst/>
          </a:prstGeom>
          <a:noFill/>
        </p:spPr>
        <p:txBody>
          <a:bodyPr wrap="square">
            <a:spAutoFit/>
          </a:bodyPr>
          <a:lstStyle/>
          <a:p>
            <a:r>
              <a:rPr lang="en-US" sz="1600" b="1" dirty="0">
                <a:solidFill>
                  <a:srgbClr val="363636"/>
                </a:solidFill>
              </a:rPr>
              <a:t>implement the </a:t>
            </a:r>
            <a:r>
              <a:rPr lang="en-US" sz="1600" b="1" dirty="0" err="1">
                <a:solidFill>
                  <a:srgbClr val="363636"/>
                </a:solidFill>
              </a:rPr>
              <a:t>MetaSeal</a:t>
            </a:r>
            <a:r>
              <a:rPr lang="en-US" sz="1600" b="1" dirty="0">
                <a:solidFill>
                  <a:srgbClr val="363636"/>
                </a:solidFill>
              </a:rPr>
              <a:t> pipeline on the dataset and measure </a:t>
            </a:r>
            <a:r>
              <a:rPr lang="en-US" sz="1600" b="1" dirty="0" err="1">
                <a:solidFill>
                  <a:srgbClr val="363636"/>
                </a:solidFill>
              </a:rPr>
              <a:t>MetaSeal’s</a:t>
            </a:r>
            <a:r>
              <a:rPr lang="en-US" sz="1600" b="1" dirty="0">
                <a:solidFill>
                  <a:srgbClr val="363636"/>
                </a:solidFill>
              </a:rPr>
              <a:t> Verification Success Rate (VSR) and QR recovery accuracy for each attack configuration on a matrix of five geometric and spatial attack types across multiple intensity levels</a:t>
            </a:r>
            <a:endParaRPr lang="en-US" sz="1600" b="1" dirty="0"/>
          </a:p>
        </p:txBody>
      </p:sp>
      <p:pic>
        <p:nvPicPr>
          <p:cNvPr id="5" name="Picture 4">
            <a:extLst>
              <a:ext uri="{FF2B5EF4-FFF2-40B4-BE49-F238E27FC236}">
                <a16:creationId xmlns:a16="http://schemas.microsoft.com/office/drawing/2014/main" id="{FD1F3988-E582-41EE-9E10-FC253A3FB344}"/>
              </a:ext>
            </a:extLst>
          </p:cNvPr>
          <p:cNvPicPr>
            <a:picLocks noChangeAspect="1"/>
          </p:cNvPicPr>
          <p:nvPr/>
        </p:nvPicPr>
        <p:blipFill>
          <a:blip r:embed="rId3"/>
          <a:stretch>
            <a:fillRect/>
          </a:stretch>
        </p:blipFill>
        <p:spPr>
          <a:xfrm>
            <a:off x="395536" y="2031325"/>
            <a:ext cx="3535529" cy="2625130"/>
          </a:xfrm>
          <a:prstGeom prst="rect">
            <a:avLst/>
          </a:prstGeom>
        </p:spPr>
      </p:pic>
    </p:spTree>
    <p:extLst>
      <p:ext uri="{BB962C8B-B14F-4D97-AF65-F5344CB8AC3E}">
        <p14:creationId xmlns:p14="http://schemas.microsoft.com/office/powerpoint/2010/main" val="112460534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13</a:t>
            </a:fld>
            <a:endParaRPr lang="en-GB"/>
          </a:p>
        </p:txBody>
      </p:sp>
      <p:sp>
        <p:nvSpPr>
          <p:cNvPr id="4" name="Text 0">
            <a:extLst>
              <a:ext uri="{FF2B5EF4-FFF2-40B4-BE49-F238E27FC236}">
                <a16:creationId xmlns:a16="http://schemas.microsoft.com/office/drawing/2014/main" id="{8B895630-31C5-3E86-D05D-D77A08402D12}"/>
              </a:ext>
            </a:extLst>
          </p:cNvPr>
          <p:cNvSpPr/>
          <p:nvPr/>
        </p:nvSpPr>
        <p:spPr>
          <a:xfrm>
            <a:off x="457200" y="274320"/>
            <a:ext cx="8229600" cy="731520"/>
          </a:xfrm>
          <a:prstGeom prst="rect">
            <a:avLst/>
          </a:prstGeom>
          <a:noFill/>
          <a:ln/>
        </p:spPr>
        <p:txBody>
          <a:bodyPr wrap="square" rtlCol="0" anchor="ctr"/>
          <a:lstStyle/>
          <a:p>
            <a:pPr>
              <a:buSzPct val="100000"/>
            </a:pPr>
            <a:r>
              <a:rPr lang="en-US" sz="2800" b="1" dirty="0">
                <a:solidFill>
                  <a:srgbClr val="002060"/>
                </a:solidFill>
              </a:rPr>
              <a:t>RESULT – OBJECTIVE 3(a)</a:t>
            </a:r>
          </a:p>
        </p:txBody>
      </p:sp>
      <p:sp>
        <p:nvSpPr>
          <p:cNvPr id="6" name="Text 1">
            <a:extLst>
              <a:ext uri="{FF2B5EF4-FFF2-40B4-BE49-F238E27FC236}">
                <a16:creationId xmlns:a16="http://schemas.microsoft.com/office/drawing/2014/main" id="{C2D810B6-47B1-9860-9570-9C2ED7981BAF}"/>
              </a:ext>
            </a:extLst>
          </p:cNvPr>
          <p:cNvSpPr/>
          <p:nvPr/>
        </p:nvSpPr>
        <p:spPr>
          <a:xfrm>
            <a:off x="457200" y="1005840"/>
            <a:ext cx="8229600" cy="5029200"/>
          </a:xfrm>
          <a:prstGeom prst="rect">
            <a:avLst/>
          </a:prstGeom>
          <a:noFill/>
          <a:ln/>
        </p:spPr>
        <p:txBody>
          <a:bodyPr wrap="square" rtlCol="0" anchor="t"/>
          <a:lstStyle/>
          <a:p>
            <a:pPr>
              <a:spcAft>
                <a:spcPts val="800"/>
              </a:spcAft>
            </a:pPr>
            <a:r>
              <a:rPr lang="en-US" sz="2000" b="1" dirty="0"/>
              <a:t>I</a:t>
            </a:r>
            <a:r>
              <a:rPr lang="en-US" b="1" dirty="0"/>
              <a:t>mplement the large-scale semantic averaging attack using CLIP-based clustering and pixel-wise residual averaging at N = 50, 200, 500, and 1,000 semantically similar images.</a:t>
            </a:r>
          </a:p>
          <a:p>
            <a:pPr marL="400050" indent="-400050">
              <a:spcAft>
                <a:spcPts val="800"/>
              </a:spcAft>
              <a:buFont typeface="+mj-lt"/>
              <a:buAutoNum type="romanLcPeriod"/>
            </a:pPr>
            <a:r>
              <a:rPr lang="en-US" dirty="0"/>
              <a:t>Passed another set of images through the </a:t>
            </a:r>
            <a:r>
              <a:rPr lang="en-US" dirty="0" err="1"/>
              <a:t>MetaSeal</a:t>
            </a:r>
            <a:r>
              <a:rPr lang="en-US" dirty="0"/>
              <a:t> pipeline</a:t>
            </a:r>
          </a:p>
          <a:p>
            <a:pPr marL="400050" indent="-400050">
              <a:spcAft>
                <a:spcPts val="800"/>
              </a:spcAft>
              <a:buFont typeface="+mj-lt"/>
              <a:buAutoNum type="romanLcPeriod"/>
            </a:pPr>
            <a:r>
              <a:rPr lang="en-US" dirty="0"/>
              <a:t>Extract CLIP embeddings of the watermarked images to cluster them together by content similarity</a:t>
            </a:r>
          </a:p>
          <a:p>
            <a:pPr marL="400050" indent="-400050">
              <a:spcAft>
                <a:spcPts val="800"/>
              </a:spcAft>
              <a:buFont typeface="+mj-lt"/>
              <a:buAutoNum type="romanLcPeriod"/>
            </a:pPr>
            <a:r>
              <a:rPr lang="en-US" dirty="0"/>
              <a:t>Compute the pixel-wise mean residual for the top-N semantically similar images at each target cluster size (N = 50, 200, 500, 1000)</a:t>
            </a:r>
          </a:p>
          <a:p>
            <a:pPr marL="400050" indent="-400050">
              <a:spcAft>
                <a:spcPts val="800"/>
              </a:spcAft>
              <a:buFont typeface="+mj-lt"/>
              <a:buAutoNum type="romanLcPeriod"/>
            </a:pPr>
            <a:r>
              <a:rPr lang="en-US" dirty="0"/>
              <a:t>Apply this mean residual to 20 held-out clean target images to simulate the forgery attempt</a:t>
            </a:r>
          </a:p>
          <a:p>
            <a:pPr marL="400050" indent="-400050">
              <a:spcAft>
                <a:spcPts val="800"/>
              </a:spcAft>
              <a:buFont typeface="+mj-lt"/>
              <a:buAutoNum type="romanLcPeriod"/>
            </a:pPr>
            <a:r>
              <a:rPr lang="en-US" dirty="0"/>
              <a:t>Record results</a:t>
            </a: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14</a:t>
            </a:fld>
            <a:endParaRPr lang="en-GB"/>
          </a:p>
        </p:txBody>
      </p:sp>
      <p:sp>
        <p:nvSpPr>
          <p:cNvPr id="4" name="Text 0">
            <a:extLst>
              <a:ext uri="{FF2B5EF4-FFF2-40B4-BE49-F238E27FC236}">
                <a16:creationId xmlns:a16="http://schemas.microsoft.com/office/drawing/2014/main" id="{EE4CD59C-7B84-7ACB-7714-E7D694291B35}"/>
              </a:ext>
            </a:extLst>
          </p:cNvPr>
          <p:cNvSpPr/>
          <p:nvPr/>
        </p:nvSpPr>
        <p:spPr>
          <a:xfrm>
            <a:off x="457200" y="274320"/>
            <a:ext cx="8229600" cy="731520"/>
          </a:xfrm>
          <a:prstGeom prst="rect">
            <a:avLst/>
          </a:prstGeom>
          <a:noFill/>
          <a:ln/>
        </p:spPr>
        <p:txBody>
          <a:bodyPr wrap="square" rtlCol="0" anchor="ctr"/>
          <a:lstStyle/>
          <a:p>
            <a:pPr>
              <a:buSzPct val="100000"/>
            </a:pPr>
            <a:r>
              <a:rPr lang="en-US" sz="2800" b="1" dirty="0">
                <a:solidFill>
                  <a:srgbClr val="002060"/>
                </a:solidFill>
              </a:rPr>
              <a:t>RESULT – OBJECTIVE 3(b)</a:t>
            </a:r>
          </a:p>
        </p:txBody>
      </p:sp>
      <p:sp>
        <p:nvSpPr>
          <p:cNvPr id="6" name="Text 1">
            <a:extLst>
              <a:ext uri="{FF2B5EF4-FFF2-40B4-BE49-F238E27FC236}">
                <a16:creationId xmlns:a16="http://schemas.microsoft.com/office/drawing/2014/main" id="{1912122D-A76E-33F7-3E6B-6566F7730141}"/>
              </a:ext>
            </a:extLst>
          </p:cNvPr>
          <p:cNvSpPr/>
          <p:nvPr/>
        </p:nvSpPr>
        <p:spPr>
          <a:xfrm>
            <a:off x="457200" y="1005840"/>
            <a:ext cx="8560676" cy="5029200"/>
          </a:xfrm>
          <a:prstGeom prst="rect">
            <a:avLst/>
          </a:prstGeom>
          <a:noFill/>
          <a:ln/>
        </p:spPr>
        <p:txBody>
          <a:bodyPr wrap="square" rtlCol="0" anchor="t"/>
          <a:lstStyle/>
          <a:p>
            <a:pPr marL="0" indent="0">
              <a:spcAft>
                <a:spcPts val="800"/>
              </a:spcAft>
              <a:buNone/>
            </a:pPr>
            <a:r>
              <a:rPr lang="en-US" sz="2000" b="1" dirty="0">
                <a:solidFill>
                  <a:srgbClr val="363636"/>
                </a:solidFill>
              </a:rPr>
              <a:t>Integration of Artificial Intelligence</a:t>
            </a:r>
            <a:endParaRPr lang="en-US" sz="2000" b="1" dirty="0"/>
          </a:p>
          <a:p>
            <a:pPr marL="0" indent="0">
              <a:spcAft>
                <a:spcPts val="800"/>
              </a:spcAft>
              <a:buNone/>
            </a:pPr>
            <a:r>
              <a:rPr lang="en-US" dirty="0">
                <a:solidFill>
                  <a:srgbClr val="363636"/>
                </a:solidFill>
              </a:rPr>
              <a:t>Development of Intelligent Workflow Features &amp; Performance:</a:t>
            </a:r>
            <a:endParaRPr lang="en-US" dirty="0"/>
          </a:p>
          <a:p>
            <a:pPr marL="342900" indent="-342900">
              <a:spcAft>
                <a:spcPts val="800"/>
              </a:spcAft>
              <a:buSzPct val="100000"/>
              <a:buChar char="•"/>
            </a:pPr>
            <a:r>
              <a:rPr lang="en-US" b="1" dirty="0">
                <a:solidFill>
                  <a:srgbClr val="363636"/>
                </a:solidFill>
              </a:rPr>
              <a:t>Intelligent Milestone Generator</a:t>
            </a:r>
            <a:r>
              <a:rPr lang="en-US" dirty="0">
                <a:solidFill>
                  <a:srgbClr val="363636"/>
                </a:solidFill>
              </a:rPr>
              <a:t>: Automatically maps out a sequential project lifecycle using Google Gemini which upon evaluation achieved a stellar 4.14 / 5.00 average rating across 15 topics.</a:t>
            </a:r>
            <a:endParaRPr lang="en-US" dirty="0"/>
          </a:p>
          <a:p>
            <a:pPr marL="342900" indent="-342900">
              <a:spcAft>
                <a:spcPts val="800"/>
              </a:spcAft>
              <a:buSzPct val="100000"/>
              <a:buChar char="•"/>
            </a:pPr>
            <a:r>
              <a:rPr lang="en-US" b="1" dirty="0">
                <a:solidFill>
                  <a:srgbClr val="363636"/>
                </a:solidFill>
              </a:rPr>
              <a:t>Task Classification Engine: </a:t>
            </a:r>
            <a:r>
              <a:rPr lang="en-US" dirty="0">
                <a:solidFill>
                  <a:srgbClr val="363636"/>
                </a:solidFill>
              </a:rPr>
              <a:t>Dynamically categorizes academic tasks based on prompt context which on evaluation recorded 91.7% accuracy over a 60-task evaluation dataset.</a:t>
            </a:r>
            <a:endParaRPr lang="en-US" dirty="0"/>
          </a:p>
          <a:p>
            <a:pPr marL="342900" indent="-342900">
              <a:spcAft>
                <a:spcPts val="800"/>
              </a:spcAft>
              <a:buSzPct val="100000"/>
              <a:buChar char="•"/>
            </a:pPr>
            <a:r>
              <a:rPr lang="en-US" dirty="0">
                <a:solidFill>
                  <a:srgbClr val="363636"/>
                </a:solidFill>
              </a:rPr>
              <a:t>Document Submission &amp; Audit Panel: Evaluates multi-modal submissions (PDF, DOCX, TXT) against task requirements.</a:t>
            </a:r>
            <a:endParaRPr lang="en-US" dirty="0"/>
          </a:p>
          <a:p>
            <a:pPr marL="800100" lvl="1" indent="-342900">
              <a:spcAft>
                <a:spcPts val="800"/>
              </a:spcAft>
              <a:buSzPct val="100000"/>
              <a:buChar char="•"/>
            </a:pPr>
            <a:r>
              <a:rPr lang="en-US" b="1" dirty="0">
                <a:solidFill>
                  <a:srgbClr val="363636"/>
                </a:solidFill>
              </a:rPr>
              <a:t>Metric: </a:t>
            </a:r>
            <a:r>
              <a:rPr lang="en-US" dirty="0">
                <a:solidFill>
                  <a:srgbClr val="363636"/>
                </a:solidFill>
              </a:rPr>
              <a:t>Achieved 85.0% precision, reflecting a cautious, academically sound approach.</a:t>
            </a:r>
            <a:endParaRPr lang="en-US" dirty="0"/>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15</a:t>
            </a:fld>
            <a:endParaRPr lang="en-GB"/>
          </a:p>
        </p:txBody>
      </p:sp>
      <p:sp>
        <p:nvSpPr>
          <p:cNvPr id="4" name="Text 0">
            <a:extLst>
              <a:ext uri="{FF2B5EF4-FFF2-40B4-BE49-F238E27FC236}">
                <a16:creationId xmlns:a16="http://schemas.microsoft.com/office/drawing/2014/main" id="{9F3553F8-8C97-CC5E-E5CB-146A11BC40AC}"/>
              </a:ext>
            </a:extLst>
          </p:cNvPr>
          <p:cNvSpPr/>
          <p:nvPr/>
        </p:nvSpPr>
        <p:spPr>
          <a:xfrm>
            <a:off x="457200" y="274320"/>
            <a:ext cx="8229600" cy="731520"/>
          </a:xfrm>
          <a:prstGeom prst="rect">
            <a:avLst/>
          </a:prstGeom>
          <a:noFill/>
          <a:ln/>
        </p:spPr>
        <p:txBody>
          <a:bodyPr wrap="square" rtlCol="0" anchor="ctr"/>
          <a:lstStyle/>
          <a:p>
            <a:pPr>
              <a:buSzPct val="100000"/>
            </a:pPr>
            <a:r>
              <a:rPr lang="en-US" sz="2800" b="1" dirty="0">
                <a:solidFill>
                  <a:srgbClr val="002060"/>
                </a:solidFill>
              </a:rPr>
              <a:t>RESULT – OBJECTIVE 4</a:t>
            </a:r>
          </a:p>
        </p:txBody>
      </p:sp>
      <p:sp>
        <p:nvSpPr>
          <p:cNvPr id="6" name="Text 1">
            <a:extLst>
              <a:ext uri="{FF2B5EF4-FFF2-40B4-BE49-F238E27FC236}">
                <a16:creationId xmlns:a16="http://schemas.microsoft.com/office/drawing/2014/main" id="{7D3B84D1-2ED6-514C-5EEC-6B8A667AFE81}"/>
              </a:ext>
            </a:extLst>
          </p:cNvPr>
          <p:cNvSpPr/>
          <p:nvPr/>
        </p:nvSpPr>
        <p:spPr>
          <a:xfrm>
            <a:off x="457200" y="1005840"/>
            <a:ext cx="8466083" cy="3676519"/>
          </a:xfrm>
          <a:prstGeom prst="rect">
            <a:avLst/>
          </a:prstGeom>
          <a:noFill/>
          <a:ln/>
        </p:spPr>
        <p:txBody>
          <a:bodyPr wrap="square" rtlCol="0" anchor="t"/>
          <a:lstStyle/>
          <a:p>
            <a:pPr marL="0" indent="0">
              <a:spcAft>
                <a:spcPts val="800"/>
              </a:spcAft>
              <a:buNone/>
            </a:pPr>
            <a:r>
              <a:rPr lang="en-US" sz="2000" b="1" dirty="0">
                <a:solidFill>
                  <a:srgbClr val="363636"/>
                </a:solidFill>
              </a:rPr>
              <a:t>Evaluate the result of both experiments using VSR, QR Recovery Accuracy, PSNR, SSIM, and LPIPS</a:t>
            </a:r>
          </a:p>
          <a:p>
            <a:pPr marL="0" indent="0">
              <a:spcAft>
                <a:spcPts val="800"/>
              </a:spcAft>
              <a:buNone/>
            </a:pPr>
            <a:r>
              <a:rPr lang="en-US" sz="1800" dirty="0">
                <a:solidFill>
                  <a:srgbClr val="363636"/>
                </a:solidFill>
              </a:rPr>
              <a:t>System Usability &amp; Latency Testing Results:</a:t>
            </a:r>
            <a:endParaRPr lang="en-US" sz="1800" dirty="0"/>
          </a:p>
          <a:p>
            <a:pPr marL="342900" indent="-342900">
              <a:spcAft>
                <a:spcPts val="800"/>
              </a:spcAft>
              <a:buSzPct val="100000"/>
              <a:buChar char="•"/>
            </a:pPr>
            <a:r>
              <a:rPr lang="en-US" sz="1800" b="1" dirty="0">
                <a:solidFill>
                  <a:srgbClr val="363636"/>
                </a:solidFill>
              </a:rPr>
              <a:t>System Latency</a:t>
            </a:r>
            <a:r>
              <a:rPr lang="en-US" sz="1800" dirty="0">
                <a:solidFill>
                  <a:srgbClr val="363636"/>
                </a:solidFill>
              </a:rPr>
              <a:t>: Routine operations processed in </a:t>
            </a:r>
            <a:r>
              <a:rPr lang="en-US" sz="1800" b="1" dirty="0">
                <a:solidFill>
                  <a:srgbClr val="363636"/>
                </a:solidFill>
              </a:rPr>
              <a:t>sub-200ms</a:t>
            </a:r>
            <a:r>
              <a:rPr lang="en-US" sz="1800" dirty="0">
                <a:solidFill>
                  <a:srgbClr val="363636"/>
                </a:solidFill>
              </a:rPr>
              <a:t>, delivering a completely fluid user experience.</a:t>
            </a:r>
            <a:endParaRPr lang="en-US" sz="1800" dirty="0"/>
          </a:p>
          <a:p>
            <a:pPr marL="342900" indent="-342900">
              <a:spcAft>
                <a:spcPts val="800"/>
              </a:spcAft>
              <a:buSzPct val="100000"/>
              <a:buChar char="•"/>
            </a:pPr>
            <a:r>
              <a:rPr lang="en-US" sz="1800" b="1" dirty="0">
                <a:solidFill>
                  <a:srgbClr val="363636"/>
                </a:solidFill>
              </a:rPr>
              <a:t>System Usability Scale (SUS)</a:t>
            </a:r>
            <a:r>
              <a:rPr lang="en-US" sz="1800" dirty="0">
                <a:solidFill>
                  <a:srgbClr val="363636"/>
                </a:solidFill>
              </a:rPr>
              <a:t> Administered to 70 participants:</a:t>
            </a:r>
            <a:r>
              <a:rPr lang="en-US" dirty="0"/>
              <a:t> </a:t>
            </a:r>
          </a:p>
          <a:p>
            <a:pPr marL="342900" indent="-342900">
              <a:spcAft>
                <a:spcPts val="800"/>
              </a:spcAft>
              <a:buSzPct val="100000"/>
              <a:buChar char="•"/>
            </a:pPr>
            <a:r>
              <a:rPr lang="en-US" sz="1800" dirty="0">
                <a:solidFill>
                  <a:srgbClr val="363636"/>
                </a:solidFill>
              </a:rPr>
              <a:t>Mean Satisfaction Score: 89.6%</a:t>
            </a:r>
            <a:endParaRPr lang="en-US" sz="1800" dirty="0"/>
          </a:p>
          <a:p>
            <a:pPr marL="342900" indent="-342900">
              <a:spcAft>
                <a:spcPts val="800"/>
              </a:spcAft>
              <a:buSzPct val="100000"/>
              <a:buChar char="•"/>
            </a:pPr>
            <a:r>
              <a:rPr lang="en-US" sz="1800" b="1" dirty="0">
                <a:solidFill>
                  <a:srgbClr val="363636"/>
                </a:solidFill>
              </a:rPr>
              <a:t>User Feedback Highlights: </a:t>
            </a:r>
            <a:r>
              <a:rPr lang="en-US" sz="1800" dirty="0">
                <a:solidFill>
                  <a:srgbClr val="363636"/>
                </a:solidFill>
              </a:rPr>
              <a:t>Participants vastly preferred the real-time Kanban board and AI milestone generation over their existing fragmented toolsets, indicating a very strong usability threshold (Yang et al., 2020).</a:t>
            </a:r>
            <a:endParaRPr lang="en-US" sz="1800" dirty="0"/>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16</a:t>
            </a:fld>
            <a:endParaRPr lang="en-GB" dirty="0"/>
          </a:p>
        </p:txBody>
      </p:sp>
      <p:sp>
        <p:nvSpPr>
          <p:cNvPr id="4" name="Text 0">
            <a:extLst>
              <a:ext uri="{FF2B5EF4-FFF2-40B4-BE49-F238E27FC236}">
                <a16:creationId xmlns:a16="http://schemas.microsoft.com/office/drawing/2014/main" id="{84DAC1B7-ED0C-609F-2638-CBD8256920B8}"/>
              </a:ext>
            </a:extLst>
          </p:cNvPr>
          <p:cNvSpPr/>
          <p:nvPr/>
        </p:nvSpPr>
        <p:spPr>
          <a:xfrm>
            <a:off x="457200" y="274320"/>
            <a:ext cx="8229600" cy="731520"/>
          </a:xfrm>
          <a:prstGeom prst="rect">
            <a:avLst/>
          </a:prstGeom>
          <a:noFill/>
          <a:ln/>
        </p:spPr>
        <p:txBody>
          <a:bodyPr wrap="square" rtlCol="0" anchor="ctr"/>
          <a:lstStyle/>
          <a:p>
            <a:r>
              <a:rPr lang="en-US" sz="2800" b="1" dirty="0">
                <a:solidFill>
                  <a:srgbClr val="003366"/>
                </a:solidFill>
              </a:rPr>
              <a:t>System Usability Score Distribution</a:t>
            </a:r>
            <a:endParaRPr lang="en-US" sz="2800" dirty="0"/>
          </a:p>
        </p:txBody>
      </p:sp>
      <p:graphicFrame>
        <p:nvGraphicFramePr>
          <p:cNvPr id="6" name="Chart 5">
            <a:extLst>
              <a:ext uri="{FF2B5EF4-FFF2-40B4-BE49-F238E27FC236}">
                <a16:creationId xmlns:a16="http://schemas.microsoft.com/office/drawing/2014/main" id="{BD978766-869A-0099-9C13-9DA4B7732E7A}"/>
              </a:ext>
            </a:extLst>
          </p:cNvPr>
          <p:cNvGraphicFramePr>
            <a:graphicFrameLocks noGrp="1"/>
          </p:cNvGraphicFramePr>
          <p:nvPr>
            <p:extLst>
              <p:ext uri="{D42A27DB-BD31-4B8C-83A1-F6EECF244321}">
                <p14:modId xmlns:p14="http://schemas.microsoft.com/office/powerpoint/2010/main" val="4292696562"/>
              </p:ext>
            </p:extLst>
          </p:nvPr>
        </p:nvGraphicFramePr>
        <p:xfrm>
          <a:off x="755576" y="1249507"/>
          <a:ext cx="7079029" cy="361967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17</a:t>
            </a:fld>
            <a:endParaRPr lang="en-GB"/>
          </a:p>
        </p:txBody>
      </p:sp>
      <p:sp>
        <p:nvSpPr>
          <p:cNvPr id="4" name="Text 0">
            <a:extLst>
              <a:ext uri="{FF2B5EF4-FFF2-40B4-BE49-F238E27FC236}">
                <a16:creationId xmlns:a16="http://schemas.microsoft.com/office/drawing/2014/main" id="{B333658E-179E-F6DF-1DBC-0036DD0D7013}"/>
              </a:ext>
            </a:extLst>
          </p:cNvPr>
          <p:cNvSpPr/>
          <p:nvPr/>
        </p:nvSpPr>
        <p:spPr>
          <a:xfrm>
            <a:off x="457200" y="274320"/>
            <a:ext cx="8229600" cy="731520"/>
          </a:xfrm>
          <a:prstGeom prst="rect">
            <a:avLst/>
          </a:prstGeom>
          <a:noFill/>
          <a:ln/>
        </p:spPr>
        <p:txBody>
          <a:bodyPr wrap="square" rtlCol="0" anchor="ctr"/>
          <a:lstStyle/>
          <a:p>
            <a:pPr marL="0" indent="0">
              <a:buNone/>
            </a:pPr>
            <a:r>
              <a:rPr lang="en-US" sz="2800" b="1" dirty="0">
                <a:solidFill>
                  <a:srgbClr val="003366"/>
                </a:solidFill>
              </a:rPr>
              <a:t>DISCUSSION OF FINDINGS</a:t>
            </a:r>
            <a:endParaRPr lang="en-US" sz="2800" dirty="0"/>
          </a:p>
        </p:txBody>
      </p:sp>
      <p:sp>
        <p:nvSpPr>
          <p:cNvPr id="6" name="Text 1">
            <a:extLst>
              <a:ext uri="{FF2B5EF4-FFF2-40B4-BE49-F238E27FC236}">
                <a16:creationId xmlns:a16="http://schemas.microsoft.com/office/drawing/2014/main" id="{6155F8C4-E50C-8F84-529E-32A9EA7C1483}"/>
              </a:ext>
            </a:extLst>
          </p:cNvPr>
          <p:cNvSpPr/>
          <p:nvPr/>
        </p:nvSpPr>
        <p:spPr>
          <a:xfrm>
            <a:off x="457200" y="1005840"/>
            <a:ext cx="8229600" cy="3863340"/>
          </a:xfrm>
          <a:prstGeom prst="rect">
            <a:avLst/>
          </a:prstGeom>
          <a:noFill/>
          <a:ln/>
        </p:spPr>
        <p:txBody>
          <a:bodyPr wrap="square" rtlCol="0" anchor="t"/>
          <a:lstStyle/>
          <a:p>
            <a:pPr>
              <a:lnSpc>
                <a:spcPct val="150000"/>
              </a:lnSpc>
              <a:buSzPct val="100000"/>
            </a:pPr>
            <a:r>
              <a:rPr lang="en-US" sz="1800" b="1" dirty="0"/>
              <a:t>Geometric Attacks</a:t>
            </a:r>
          </a:p>
          <a:p>
            <a:pPr marL="342900" indent="-342900">
              <a:lnSpc>
                <a:spcPct val="150000"/>
              </a:lnSpc>
              <a:buSzPct val="100000"/>
              <a:buChar char="•"/>
            </a:pPr>
            <a:endParaRPr lang="en-US" sz="1800" dirty="0"/>
          </a:p>
        </p:txBody>
      </p:sp>
      <p:sp>
        <p:nvSpPr>
          <p:cNvPr id="2" name="Rectangle 1">
            <a:extLst>
              <a:ext uri="{FF2B5EF4-FFF2-40B4-BE49-F238E27FC236}">
                <a16:creationId xmlns:a16="http://schemas.microsoft.com/office/drawing/2014/main" id="{B538572D-048D-43C3-9E57-296B3A285FEE}"/>
              </a:ext>
            </a:extLst>
          </p:cNvPr>
          <p:cNvSpPr>
            <a:spLocks noChangeArrowheads="1"/>
          </p:cNvSpPr>
          <p:nvPr/>
        </p:nvSpPr>
        <p:spPr bwMode="auto">
          <a:xfrm>
            <a:off x="220152" y="1451521"/>
            <a:ext cx="8466648"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285750" marR="0" lvl="0" indent="-285750"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Google Sans Text"/>
              </a:rPr>
              <a:t>The Spatial Fragility Threshold:</a:t>
            </a:r>
            <a:r>
              <a:rPr kumimoji="0" lang="en-US" altLang="en-US" sz="1600" b="0" i="0" u="none" strike="noStrike" cap="none" normalizeH="0" baseline="0" dirty="0">
                <a:ln>
                  <a:noFill/>
                </a:ln>
                <a:solidFill>
                  <a:schemeClr val="tx1"/>
                </a:solidFill>
                <a:effectLst/>
                <a:latin typeface="Google Sans Text"/>
              </a:rPr>
              <a:t> The system survives at </a:t>
            </a:r>
            <a:r>
              <a:rPr kumimoji="0" lang="en-US" altLang="en-US" sz="1600" b="1" i="0" u="none" strike="noStrike" cap="none" normalizeH="0" baseline="0" dirty="0">
                <a:ln>
                  <a:noFill/>
                </a:ln>
                <a:solidFill>
                  <a:schemeClr val="tx1"/>
                </a:solidFill>
                <a:effectLst/>
                <a:latin typeface="Google Sans Text"/>
              </a:rPr>
              <a:t>25%</a:t>
            </a:r>
            <a:r>
              <a:rPr kumimoji="0" lang="en-US" altLang="en-US" sz="1600" b="0" i="0" u="none" strike="noStrike" cap="none" normalizeH="0" baseline="0" dirty="0">
                <a:ln>
                  <a:noFill/>
                </a:ln>
                <a:solidFill>
                  <a:schemeClr val="tx1"/>
                </a:solidFill>
                <a:effectLst/>
                <a:latin typeface="Google Sans Text"/>
              </a:rPr>
              <a:t> masking (VSR = </a:t>
            </a:r>
            <a:r>
              <a:rPr kumimoji="0" lang="en-US" altLang="en-US" sz="1600" b="1" i="0" u="none" strike="noStrike" cap="none" normalizeH="0" baseline="0" dirty="0">
                <a:ln>
                  <a:noFill/>
                </a:ln>
                <a:solidFill>
                  <a:schemeClr val="tx1"/>
                </a:solidFill>
                <a:effectLst/>
                <a:latin typeface="Google Sans Text"/>
              </a:rPr>
              <a:t>81.5%</a:t>
            </a:r>
            <a:r>
              <a:rPr kumimoji="0" lang="en-US" altLang="en-US" sz="1600" b="0" i="0" u="none" strike="noStrike" cap="none" normalizeH="0" baseline="0" dirty="0">
                <a:ln>
                  <a:noFill/>
                </a:ln>
                <a:solidFill>
                  <a:schemeClr val="tx1"/>
                </a:solidFill>
                <a:effectLst/>
                <a:latin typeface="Google Sans Text"/>
              </a:rPr>
              <a:t>) but critically fails at </a:t>
            </a:r>
            <a:r>
              <a:rPr kumimoji="0" lang="en-US" altLang="en-US" sz="1600" b="1" i="0" u="none" strike="noStrike" cap="none" normalizeH="0" baseline="0" dirty="0">
                <a:ln>
                  <a:noFill/>
                </a:ln>
                <a:solidFill>
                  <a:schemeClr val="tx1"/>
                </a:solidFill>
                <a:effectLst/>
                <a:latin typeface="Google Sans Text"/>
              </a:rPr>
              <a:t>40%</a:t>
            </a:r>
            <a:r>
              <a:rPr kumimoji="0" lang="en-US" altLang="en-US" sz="1600" b="0" i="0" u="none" strike="noStrike" cap="none" normalizeH="0" baseline="0" dirty="0">
                <a:ln>
                  <a:noFill/>
                </a:ln>
                <a:solidFill>
                  <a:schemeClr val="tx1"/>
                </a:solidFill>
                <a:effectLst/>
                <a:latin typeface="Google Sans Text"/>
              </a:rPr>
              <a:t> masking (VSR = </a:t>
            </a:r>
            <a:r>
              <a:rPr kumimoji="0" lang="en-US" altLang="en-US" sz="1600" b="1" i="0" u="none" strike="noStrike" cap="none" normalizeH="0" baseline="0" dirty="0">
                <a:ln>
                  <a:noFill/>
                </a:ln>
                <a:solidFill>
                  <a:schemeClr val="tx1"/>
                </a:solidFill>
                <a:effectLst/>
                <a:latin typeface="Google Sans Text"/>
              </a:rPr>
              <a:t>26.6%</a:t>
            </a:r>
            <a:r>
              <a:rPr kumimoji="0" lang="en-US" altLang="en-US" sz="1600" b="0" i="0" u="none" strike="noStrike" cap="none" normalizeH="0" baseline="0" dirty="0">
                <a:ln>
                  <a:noFill/>
                </a:ln>
                <a:solidFill>
                  <a:schemeClr val="tx1"/>
                </a:solidFill>
                <a:effectLst/>
                <a:latin typeface="Google Sans Text"/>
              </a:rPr>
              <a:t>). The exact breaking point lies between these two values.</a:t>
            </a:r>
          </a:p>
          <a:p>
            <a:pPr marL="285750" marR="0" lvl="0" indent="-285750"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Google Sans Text"/>
              </a:rPr>
              <a:t>Areas of Strong Robustness:</a:t>
            </a:r>
            <a:r>
              <a:rPr kumimoji="0" lang="en-US" altLang="en-US" sz="1600" b="0" i="0" u="none" strike="noStrike" cap="none" normalizeH="0" baseline="0" dirty="0">
                <a:ln>
                  <a:noFill/>
                </a:ln>
                <a:solidFill>
                  <a:schemeClr val="tx1"/>
                </a:solidFill>
                <a:effectLst/>
                <a:latin typeface="Google Sans Text"/>
              </a:rPr>
              <a:t> </a:t>
            </a:r>
            <a:r>
              <a:rPr kumimoji="0" lang="en-US" altLang="en-US" sz="1600" b="0" i="0" u="none" strike="noStrike" cap="none" normalizeH="0" baseline="0" dirty="0" err="1">
                <a:ln>
                  <a:noFill/>
                </a:ln>
                <a:solidFill>
                  <a:schemeClr val="tx1"/>
                </a:solidFill>
                <a:effectLst/>
                <a:latin typeface="Google Sans Text"/>
              </a:rPr>
              <a:t>MetaSeal</a:t>
            </a:r>
            <a:r>
              <a:rPr kumimoji="0" lang="en-US" altLang="en-US" sz="1600" b="0" i="0" u="none" strike="noStrike" cap="none" normalizeH="0" baseline="0" dirty="0">
                <a:ln>
                  <a:noFill/>
                </a:ln>
                <a:solidFill>
                  <a:schemeClr val="tx1"/>
                </a:solidFill>
                <a:effectLst/>
                <a:latin typeface="Google Sans Text"/>
              </a:rPr>
              <a:t> demonstrated near-perfect resilience against several geometric manipulations, achieving </a:t>
            </a:r>
            <a:r>
              <a:rPr kumimoji="0" lang="en-US" altLang="en-US" sz="1600" b="1" i="0" u="none" strike="noStrike" cap="none" normalizeH="0" baseline="0" dirty="0">
                <a:ln>
                  <a:noFill/>
                </a:ln>
                <a:solidFill>
                  <a:schemeClr val="tx1"/>
                </a:solidFill>
                <a:effectLst/>
                <a:latin typeface="Google Sans Text"/>
              </a:rPr>
              <a:t>99.9%</a:t>
            </a:r>
            <a:r>
              <a:rPr kumimoji="0" lang="en-US" altLang="en-US" sz="1600" b="0" i="0" u="none" strike="noStrike" cap="none" normalizeH="0" baseline="0" dirty="0">
                <a:ln>
                  <a:noFill/>
                </a:ln>
                <a:solidFill>
                  <a:schemeClr val="tx1"/>
                </a:solidFill>
                <a:effectLst/>
                <a:latin typeface="Google Sans Text"/>
              </a:rPr>
              <a:t> to </a:t>
            </a:r>
            <a:r>
              <a:rPr kumimoji="0" lang="en-US" altLang="en-US" sz="1600" b="1" i="0" u="none" strike="noStrike" cap="none" normalizeH="0" baseline="0" dirty="0">
                <a:ln>
                  <a:noFill/>
                </a:ln>
                <a:solidFill>
                  <a:schemeClr val="tx1"/>
                </a:solidFill>
                <a:effectLst/>
                <a:latin typeface="Google Sans Text"/>
              </a:rPr>
              <a:t>100%</a:t>
            </a:r>
            <a:r>
              <a:rPr kumimoji="0" lang="en-US" altLang="en-US" sz="1600" b="0" i="0" u="none" strike="noStrike" cap="none" normalizeH="0" baseline="0" dirty="0">
                <a:ln>
                  <a:noFill/>
                </a:ln>
                <a:solidFill>
                  <a:schemeClr val="tx1"/>
                </a:solidFill>
                <a:effectLst/>
                <a:latin typeface="Google Sans Text"/>
              </a:rPr>
              <a:t> VSR under </a:t>
            </a:r>
            <a:r>
              <a:rPr kumimoji="0" lang="en-US" altLang="en-US" sz="1600" b="1" i="0" u="none" strike="noStrike" cap="none" normalizeH="0" baseline="0" dirty="0">
                <a:ln>
                  <a:noFill/>
                </a:ln>
                <a:solidFill>
                  <a:schemeClr val="tx1"/>
                </a:solidFill>
                <a:effectLst/>
                <a:latin typeface="Google Sans Text"/>
              </a:rPr>
              <a:t>rotation</a:t>
            </a:r>
            <a:r>
              <a:rPr kumimoji="0" lang="en-US" altLang="en-US" sz="1600" b="0" i="0" u="none" strike="noStrike" cap="none" normalizeH="0" baseline="0" dirty="0">
                <a:ln>
                  <a:noFill/>
                </a:ln>
                <a:solidFill>
                  <a:schemeClr val="tx1"/>
                </a:solidFill>
                <a:effectLst/>
                <a:latin typeface="Google Sans Text"/>
              </a:rPr>
              <a:t>, </a:t>
            </a:r>
            <a:r>
              <a:rPr kumimoji="0" lang="en-US" altLang="en-US" sz="1600" b="1" i="0" u="none" strike="noStrike" cap="none" normalizeH="0" baseline="0" dirty="0">
                <a:ln>
                  <a:noFill/>
                </a:ln>
                <a:solidFill>
                  <a:schemeClr val="tx1"/>
                </a:solidFill>
                <a:effectLst/>
                <a:latin typeface="Google Sans Text"/>
              </a:rPr>
              <a:t>horizontal flipping</a:t>
            </a:r>
            <a:r>
              <a:rPr kumimoji="0" lang="en-US" altLang="en-US" sz="1600" b="0" i="0" u="none" strike="noStrike" cap="none" normalizeH="0" baseline="0" dirty="0">
                <a:ln>
                  <a:noFill/>
                </a:ln>
                <a:solidFill>
                  <a:schemeClr val="tx1"/>
                </a:solidFill>
                <a:effectLst/>
                <a:latin typeface="Google Sans Text"/>
              </a:rPr>
              <a:t>, and </a:t>
            </a:r>
            <a:r>
              <a:rPr kumimoji="0" lang="en-US" altLang="en-US" sz="1600" b="1" i="0" u="none" strike="noStrike" cap="none" normalizeH="0" baseline="0" dirty="0">
                <a:ln>
                  <a:noFill/>
                </a:ln>
                <a:solidFill>
                  <a:schemeClr val="tx1"/>
                </a:solidFill>
                <a:effectLst/>
                <a:latin typeface="Google Sans Text"/>
              </a:rPr>
              <a:t>affine shear</a:t>
            </a:r>
            <a:r>
              <a:rPr kumimoji="0" lang="en-US" altLang="en-US" sz="1600" b="0" i="0" u="none" strike="noStrike" cap="none" normalizeH="0" baseline="0" dirty="0">
                <a:ln>
                  <a:noFill/>
                </a:ln>
                <a:solidFill>
                  <a:schemeClr val="tx1"/>
                </a:solidFill>
                <a:effectLst/>
                <a:latin typeface="Google Sans Text"/>
              </a:rPr>
              <a:t>.</a:t>
            </a:r>
          </a:p>
          <a:p>
            <a:pPr marL="285750" marR="0" lvl="0" indent="-285750"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Google Sans Text"/>
              </a:rPr>
              <a:t>Critical Vulnerability (Scaling):</a:t>
            </a:r>
            <a:r>
              <a:rPr kumimoji="0" lang="en-US" altLang="en-US" sz="1600" b="0" i="0" u="none" strike="noStrike" cap="none" normalizeH="0" baseline="0" dirty="0">
                <a:ln>
                  <a:noFill/>
                </a:ln>
                <a:solidFill>
                  <a:schemeClr val="tx1"/>
                </a:solidFill>
                <a:effectLst/>
                <a:latin typeface="Google Sans Text"/>
              </a:rPr>
              <a:t> Resolution scaling completely broke the verification pipeline, resulting in a </a:t>
            </a:r>
            <a:r>
              <a:rPr kumimoji="0" lang="en-US" altLang="en-US" sz="1600" b="1" i="0" u="none" strike="noStrike" cap="none" normalizeH="0" baseline="0" dirty="0">
                <a:ln>
                  <a:noFill/>
                </a:ln>
                <a:solidFill>
                  <a:schemeClr val="tx1"/>
                </a:solidFill>
                <a:effectLst/>
                <a:latin typeface="Google Sans Text"/>
              </a:rPr>
              <a:t>0.0%</a:t>
            </a:r>
            <a:r>
              <a:rPr kumimoji="0" lang="en-US" altLang="en-US" sz="1600" b="0" i="0" u="none" strike="noStrike" cap="none" normalizeH="0" baseline="0" dirty="0">
                <a:ln>
                  <a:noFill/>
                </a:ln>
                <a:solidFill>
                  <a:schemeClr val="tx1"/>
                </a:solidFill>
                <a:effectLst/>
                <a:latin typeface="Google Sans Text"/>
              </a:rPr>
              <a:t> VSR across all tested scale factors.</a:t>
            </a:r>
          </a:p>
          <a:p>
            <a:pPr marL="285750" marR="0" lvl="0" indent="-285750"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Google Sans Text"/>
              </a:rPr>
              <a:t>Root Cause of Scaling Failure:</a:t>
            </a:r>
            <a:r>
              <a:rPr kumimoji="0" lang="en-US" altLang="en-US" sz="1600" b="0" i="0" u="none" strike="noStrike" cap="none" normalizeH="0" baseline="0" dirty="0">
                <a:ln>
                  <a:noFill/>
                </a:ln>
                <a:solidFill>
                  <a:schemeClr val="tx1"/>
                </a:solidFill>
                <a:effectLst/>
                <a:latin typeface="Google Sans Text"/>
              </a:rPr>
              <a:t> The Invertible Neural Network (INN) is acutely sensitive to bilinear interpolation artifacts caused by resizing, even when the image quality remains perceptually high (e.g., PSNR of </a:t>
            </a:r>
            <a:r>
              <a:rPr kumimoji="0" lang="en-US" altLang="en-US" sz="1600" b="1" i="0" u="none" strike="noStrike" cap="none" normalizeH="0" baseline="0" dirty="0">
                <a:ln>
                  <a:noFill/>
                </a:ln>
                <a:solidFill>
                  <a:schemeClr val="tx1"/>
                </a:solidFill>
                <a:effectLst/>
                <a:latin typeface="Google Sans Text"/>
              </a:rPr>
              <a:t>31.412 dB</a:t>
            </a:r>
            <a:r>
              <a:rPr kumimoji="0" lang="en-US" altLang="en-US" sz="1600" b="0" i="0" u="none" strike="noStrike" cap="none" normalizeH="0" baseline="0" dirty="0">
                <a:ln>
                  <a:noFill/>
                </a:ln>
                <a:solidFill>
                  <a:schemeClr val="tx1"/>
                </a:solidFill>
                <a:effectLst/>
                <a:latin typeface="Google Sans Text"/>
              </a:rPr>
              <a:t> at </a:t>
            </a:r>
            <a:r>
              <a:rPr kumimoji="0" lang="en-US" altLang="en-US" sz="1600" b="1" i="0" u="none" strike="noStrike" cap="none" normalizeH="0" baseline="0" dirty="0">
                <a:ln>
                  <a:noFill/>
                </a:ln>
                <a:solidFill>
                  <a:schemeClr val="tx1"/>
                </a:solidFill>
                <a:effectLst/>
                <a:latin typeface="Google Sans Text"/>
              </a:rPr>
              <a:t>75%</a:t>
            </a:r>
            <a:r>
              <a:rPr kumimoji="0" lang="en-US" altLang="en-US" sz="1600" b="0" i="0" u="none" strike="noStrike" cap="none" normalizeH="0" baseline="0" dirty="0">
                <a:ln>
                  <a:noFill/>
                </a:ln>
                <a:solidFill>
                  <a:schemeClr val="tx1"/>
                </a:solidFill>
                <a:effectLst/>
                <a:latin typeface="Google Sans Text"/>
              </a:rPr>
              <a:t> scale).</a:t>
            </a:r>
          </a:p>
          <a:p>
            <a:pPr marL="285750" marR="0" lvl="0" indent="-285750"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Google Sans Text"/>
              </a:rPr>
              <a:t>Overall Conclusion:</a:t>
            </a:r>
            <a:r>
              <a:rPr kumimoji="0" lang="en-US" altLang="en-US" sz="1600" b="0" i="0" u="none" strike="noStrike" cap="none" normalizeH="0" baseline="0" dirty="0">
                <a:ln>
                  <a:noFill/>
                </a:ln>
                <a:solidFill>
                  <a:schemeClr val="tx1"/>
                </a:solidFill>
                <a:effectLst/>
                <a:latin typeface="Google Sans Text"/>
              </a:rPr>
              <a:t> </a:t>
            </a:r>
            <a:r>
              <a:rPr kumimoji="0" lang="en-US" altLang="en-US" sz="1600" b="0" i="0" u="none" strike="noStrike" cap="none" normalizeH="0" baseline="0" dirty="0" err="1">
                <a:ln>
                  <a:noFill/>
                </a:ln>
                <a:solidFill>
                  <a:schemeClr val="tx1"/>
                </a:solidFill>
                <a:effectLst/>
                <a:latin typeface="Google Sans Text"/>
              </a:rPr>
              <a:t>MetaSeal's</a:t>
            </a:r>
            <a:r>
              <a:rPr kumimoji="0" lang="en-US" altLang="en-US" sz="1600" b="0" i="0" u="none" strike="noStrike" cap="none" normalizeH="0" baseline="0" dirty="0">
                <a:ln>
                  <a:noFill/>
                </a:ln>
                <a:solidFill>
                  <a:schemeClr val="tx1"/>
                </a:solidFill>
                <a:effectLst/>
                <a:latin typeface="Google Sans Text"/>
              </a:rPr>
              <a:t> geometric robustness is architecturally mixed. It is highly secure against orientation and shear changes, but structurally fragile against aggressive cropping ($\</a:t>
            </a:r>
            <a:r>
              <a:rPr kumimoji="0" lang="en-US" altLang="en-US" sz="1600" b="0" i="0" u="none" strike="noStrike" cap="none" normalizeH="0" baseline="0" dirty="0" err="1">
                <a:ln>
                  <a:noFill/>
                </a:ln>
                <a:solidFill>
                  <a:schemeClr val="tx1"/>
                </a:solidFill>
                <a:effectLst/>
                <a:latin typeface="Google Sans Text"/>
              </a:rPr>
              <a:t>ge</a:t>
            </a:r>
            <a:r>
              <a:rPr kumimoji="0" lang="en-US" altLang="en-US" sz="1600" b="0" i="0" u="none" strike="noStrike" cap="none" normalizeH="0" baseline="0" dirty="0">
                <a:ln>
                  <a:noFill/>
                </a:ln>
                <a:solidFill>
                  <a:schemeClr val="tx1"/>
                </a:solidFill>
                <a:effectLst/>
                <a:latin typeface="Google Sans Text"/>
              </a:rPr>
              <a:t>$ </a:t>
            </a:r>
            <a:r>
              <a:rPr kumimoji="0" lang="en-US" altLang="en-US" sz="1600" b="1" i="0" u="none" strike="noStrike" cap="none" normalizeH="0" baseline="0" dirty="0">
                <a:ln>
                  <a:noFill/>
                </a:ln>
                <a:solidFill>
                  <a:schemeClr val="tx1"/>
                </a:solidFill>
                <a:effectLst/>
                <a:latin typeface="Google Sans Text"/>
              </a:rPr>
              <a:t>40%</a:t>
            </a:r>
            <a:r>
              <a:rPr kumimoji="0" lang="en-US" altLang="en-US" sz="1600" b="0" i="0" u="none" strike="noStrike" cap="none" normalizeH="0" baseline="0" dirty="0">
                <a:ln>
                  <a:noFill/>
                </a:ln>
                <a:solidFill>
                  <a:schemeClr val="tx1"/>
                </a:solidFill>
                <a:effectLst/>
                <a:latin typeface="Google Sans Text"/>
              </a:rPr>
              <a:t>) and any form of resolution scaling.</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18</a:t>
            </a:fld>
            <a:endParaRPr lang="en-GB"/>
          </a:p>
        </p:txBody>
      </p:sp>
      <p:sp>
        <p:nvSpPr>
          <p:cNvPr id="4" name="Text 0">
            <a:extLst>
              <a:ext uri="{FF2B5EF4-FFF2-40B4-BE49-F238E27FC236}">
                <a16:creationId xmlns:a16="http://schemas.microsoft.com/office/drawing/2014/main" id="{B333658E-179E-F6DF-1DBC-0036DD0D7013}"/>
              </a:ext>
            </a:extLst>
          </p:cNvPr>
          <p:cNvSpPr/>
          <p:nvPr/>
        </p:nvSpPr>
        <p:spPr>
          <a:xfrm>
            <a:off x="457200" y="274320"/>
            <a:ext cx="8229600" cy="731520"/>
          </a:xfrm>
          <a:prstGeom prst="rect">
            <a:avLst/>
          </a:prstGeom>
          <a:noFill/>
          <a:ln/>
        </p:spPr>
        <p:txBody>
          <a:bodyPr wrap="square" rtlCol="0" anchor="ctr"/>
          <a:lstStyle/>
          <a:p>
            <a:pPr marL="0" indent="0">
              <a:buNone/>
            </a:pPr>
            <a:r>
              <a:rPr lang="en-US" sz="2800" b="1" dirty="0">
                <a:solidFill>
                  <a:srgbClr val="003366"/>
                </a:solidFill>
              </a:rPr>
              <a:t>DISCUSSION OF FINDINGS</a:t>
            </a:r>
            <a:endParaRPr lang="en-US" sz="2800" dirty="0"/>
          </a:p>
        </p:txBody>
      </p:sp>
      <p:sp>
        <p:nvSpPr>
          <p:cNvPr id="6" name="Text 1">
            <a:extLst>
              <a:ext uri="{FF2B5EF4-FFF2-40B4-BE49-F238E27FC236}">
                <a16:creationId xmlns:a16="http://schemas.microsoft.com/office/drawing/2014/main" id="{6155F8C4-E50C-8F84-529E-32A9EA7C1483}"/>
              </a:ext>
            </a:extLst>
          </p:cNvPr>
          <p:cNvSpPr/>
          <p:nvPr/>
        </p:nvSpPr>
        <p:spPr>
          <a:xfrm>
            <a:off x="457200" y="1005840"/>
            <a:ext cx="8229600" cy="3863340"/>
          </a:xfrm>
          <a:prstGeom prst="rect">
            <a:avLst/>
          </a:prstGeom>
          <a:noFill/>
          <a:ln/>
        </p:spPr>
        <p:txBody>
          <a:bodyPr wrap="square" rtlCol="0" anchor="t"/>
          <a:lstStyle/>
          <a:p>
            <a:pPr>
              <a:lnSpc>
                <a:spcPct val="150000"/>
              </a:lnSpc>
              <a:buSzPct val="100000"/>
            </a:pPr>
            <a:r>
              <a:rPr lang="en-US" sz="1800" b="1" dirty="0"/>
              <a:t>Large Scale Semantic Averaging Attacks</a:t>
            </a:r>
          </a:p>
          <a:p>
            <a:pPr marL="342900" indent="-342900">
              <a:lnSpc>
                <a:spcPct val="150000"/>
              </a:lnSpc>
              <a:buSzPct val="100000"/>
              <a:buChar char="•"/>
            </a:pPr>
            <a:endParaRPr lang="en-US" sz="1800" dirty="0"/>
          </a:p>
        </p:txBody>
      </p:sp>
      <p:sp>
        <p:nvSpPr>
          <p:cNvPr id="2" name="Rectangle 1">
            <a:extLst>
              <a:ext uri="{FF2B5EF4-FFF2-40B4-BE49-F238E27FC236}">
                <a16:creationId xmlns:a16="http://schemas.microsoft.com/office/drawing/2014/main" id="{B538572D-048D-43C3-9E57-296B3A285FEE}"/>
              </a:ext>
            </a:extLst>
          </p:cNvPr>
          <p:cNvSpPr>
            <a:spLocks noChangeArrowheads="1"/>
          </p:cNvSpPr>
          <p:nvPr/>
        </p:nvSpPr>
        <p:spPr bwMode="auto">
          <a:xfrm>
            <a:off x="220152" y="1451521"/>
            <a:ext cx="8466648"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285750" marR="0" lvl="0" indent="-285750"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lang="en-US" sz="1600" b="1" dirty="0"/>
              <a:t>Robustness Confirmed:</a:t>
            </a:r>
            <a:r>
              <a:rPr lang="en-US" sz="1600" dirty="0"/>
              <a:t> The assumption that averaging up to 1,000 semantically similar images cannot forge a verifiable signal on a clean target was proven correct.</a:t>
            </a:r>
          </a:p>
          <a:p>
            <a:pPr marL="285750" marR="0" lvl="0" indent="-285750"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Google Sans Text"/>
              </a:rPr>
              <a:t>Zero Forgery Success: </a:t>
            </a:r>
            <a:r>
              <a:rPr kumimoji="0" lang="en-US" altLang="en-US" sz="1600" i="0" u="none" strike="noStrike" cap="none" normalizeH="0" baseline="0" dirty="0">
                <a:ln>
                  <a:noFill/>
                </a:ln>
                <a:solidFill>
                  <a:schemeClr val="tx1"/>
                </a:solidFill>
                <a:effectLst/>
                <a:latin typeface="Google Sans Text"/>
              </a:rPr>
              <a:t>The semantic averaging attack resulted in a 0.0% Forgery Success Rate across all values of N and all 20 target images.</a:t>
            </a:r>
          </a:p>
          <a:p>
            <a:pPr marL="285750" marR="0" lvl="0" indent="-285750"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Google Sans Text"/>
              </a:rPr>
              <a:t>Initial Assumption: </a:t>
            </a:r>
            <a:r>
              <a:rPr kumimoji="0" lang="en-US" altLang="en-US" sz="1600" i="0" u="none" strike="noStrike" cap="none" normalizeH="0" baseline="0" dirty="0">
                <a:ln>
                  <a:noFill/>
                </a:ln>
                <a:solidFill>
                  <a:schemeClr val="tx1"/>
                </a:solidFill>
                <a:effectLst/>
                <a:latin typeface="Google Sans Text"/>
              </a:rPr>
              <a:t>The attack did not fail due to visual distortion. In fact, as N increased, the forged images became visually indistinguishable from the clean targets (PSNR approached 48 dB at N=1,000).</a:t>
            </a:r>
          </a:p>
          <a:p>
            <a:pPr marL="285750" marR="0" lvl="0" indent="-285750"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Google Sans Text"/>
              </a:rPr>
              <a:t>Why it didn’t work: </a:t>
            </a:r>
            <a:r>
              <a:rPr kumimoji="0" lang="en-US" altLang="en-US" sz="1600" i="0" u="none" strike="noStrike" cap="none" normalizeH="0" baseline="0" dirty="0">
                <a:ln>
                  <a:noFill/>
                </a:ln>
                <a:solidFill>
                  <a:schemeClr val="tx1"/>
                </a:solidFill>
                <a:effectLst/>
                <a:latin typeface="Google Sans Text"/>
              </a:rPr>
              <a:t>Watermark residuals are highly image-specific at the pixel level. Averaging these independent perturbations causes destructive interference, which entirely erases the coherent DWT-domain structure required by the INN extractor.</a:t>
            </a:r>
          </a:p>
          <a:p>
            <a:pPr marL="285750" marR="0" lvl="0" indent="-285750"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Google Sans Text"/>
              </a:rPr>
              <a:t>Core Security Principle Validated: </a:t>
            </a:r>
            <a:r>
              <a:rPr kumimoji="0" lang="en-US" altLang="en-US" sz="1600" i="0" u="none" strike="noStrike" cap="none" normalizeH="0" baseline="0" dirty="0">
                <a:ln>
                  <a:noFill/>
                </a:ln>
                <a:solidFill>
                  <a:schemeClr val="tx1"/>
                </a:solidFill>
                <a:effectLst/>
                <a:latin typeface="Google Sans Text"/>
              </a:rPr>
              <a:t>This outcome empirically validates </a:t>
            </a:r>
            <a:r>
              <a:rPr kumimoji="0" lang="en-US" altLang="en-US" sz="1600" i="0" u="none" strike="noStrike" cap="none" normalizeH="0" baseline="0" dirty="0" err="1">
                <a:ln>
                  <a:noFill/>
                </a:ln>
                <a:solidFill>
                  <a:schemeClr val="tx1"/>
                </a:solidFill>
                <a:effectLst/>
                <a:latin typeface="Google Sans Text"/>
              </a:rPr>
              <a:t>MetaSeal's</a:t>
            </a:r>
            <a:r>
              <a:rPr kumimoji="0" lang="en-US" altLang="en-US" sz="1600" i="0" u="none" strike="noStrike" cap="none" normalizeH="0" baseline="0" dirty="0">
                <a:ln>
                  <a:noFill/>
                </a:ln>
                <a:solidFill>
                  <a:schemeClr val="tx1"/>
                </a:solidFill>
                <a:effectLst/>
                <a:latin typeface="Google Sans Text"/>
              </a:rPr>
              <a:t> "content-dependency" design proving that near-identical semantic captions do not result in identical, exploitable pixel-level watermarks.</a:t>
            </a:r>
            <a:endParaRPr kumimoji="0" lang="en-US" altLang="en-US" sz="16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8782993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19</a:t>
            </a:fld>
            <a:endParaRPr lang="en-GB"/>
          </a:p>
        </p:txBody>
      </p:sp>
      <p:sp>
        <p:nvSpPr>
          <p:cNvPr id="4" name="Text 0">
            <a:extLst>
              <a:ext uri="{FF2B5EF4-FFF2-40B4-BE49-F238E27FC236}">
                <a16:creationId xmlns:a16="http://schemas.microsoft.com/office/drawing/2014/main" id="{B52BE5E7-4A75-B806-C2CE-0E57BBE828B6}"/>
              </a:ext>
            </a:extLst>
          </p:cNvPr>
          <p:cNvSpPr/>
          <p:nvPr/>
        </p:nvSpPr>
        <p:spPr>
          <a:xfrm>
            <a:off x="457200" y="274320"/>
            <a:ext cx="8229600" cy="731520"/>
          </a:xfrm>
          <a:prstGeom prst="rect">
            <a:avLst/>
          </a:prstGeom>
          <a:noFill/>
          <a:ln/>
        </p:spPr>
        <p:txBody>
          <a:bodyPr wrap="square" rtlCol="0" anchor="ctr"/>
          <a:lstStyle/>
          <a:p>
            <a:pPr marL="0" indent="0">
              <a:buNone/>
            </a:pPr>
            <a:r>
              <a:rPr lang="en-US" sz="2800" b="1" dirty="0">
                <a:solidFill>
                  <a:srgbClr val="003366"/>
                </a:solidFill>
              </a:rPr>
              <a:t>SIGNIFICANCE OF THE STUDY</a:t>
            </a:r>
            <a:endParaRPr lang="en-US" sz="2800" dirty="0"/>
          </a:p>
        </p:txBody>
      </p:sp>
      <p:graphicFrame>
        <p:nvGraphicFramePr>
          <p:cNvPr id="9" name="Diagram 8">
            <a:extLst>
              <a:ext uri="{FF2B5EF4-FFF2-40B4-BE49-F238E27FC236}">
                <a16:creationId xmlns:a16="http://schemas.microsoft.com/office/drawing/2014/main" id="{CACDEE9B-D435-F86F-D52E-8704EC4FF107}"/>
              </a:ext>
            </a:extLst>
          </p:cNvPr>
          <p:cNvGraphicFramePr/>
          <p:nvPr>
            <p:extLst>
              <p:ext uri="{D42A27DB-BD31-4B8C-83A1-F6EECF244321}">
                <p14:modId xmlns:p14="http://schemas.microsoft.com/office/powerpoint/2010/main" val="1461242388"/>
              </p:ext>
            </p:extLst>
          </p:nvPr>
        </p:nvGraphicFramePr>
        <p:xfrm>
          <a:off x="457200" y="247622"/>
          <a:ext cx="8363272" cy="46215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20</a:t>
            </a:fld>
            <a:endParaRPr lang="en-GB"/>
          </a:p>
        </p:txBody>
      </p:sp>
      <p:sp>
        <p:nvSpPr>
          <p:cNvPr id="4" name="Text 0">
            <a:extLst>
              <a:ext uri="{FF2B5EF4-FFF2-40B4-BE49-F238E27FC236}">
                <a16:creationId xmlns:a16="http://schemas.microsoft.com/office/drawing/2014/main" id="{7BD4144A-FC4E-51B2-4DCF-F824299AD036}"/>
              </a:ext>
            </a:extLst>
          </p:cNvPr>
          <p:cNvSpPr/>
          <p:nvPr/>
        </p:nvSpPr>
        <p:spPr>
          <a:xfrm>
            <a:off x="457200" y="274320"/>
            <a:ext cx="8229600" cy="731520"/>
          </a:xfrm>
          <a:prstGeom prst="rect">
            <a:avLst/>
          </a:prstGeom>
          <a:noFill/>
          <a:ln/>
        </p:spPr>
        <p:txBody>
          <a:bodyPr wrap="square" rtlCol="0" anchor="ctr"/>
          <a:lstStyle/>
          <a:p>
            <a:pPr marL="0" indent="0">
              <a:buNone/>
            </a:pPr>
            <a:r>
              <a:rPr lang="en-US" sz="2800" b="1" dirty="0">
                <a:solidFill>
                  <a:srgbClr val="003366"/>
                </a:solidFill>
              </a:rPr>
              <a:t>LIMITATIONS</a:t>
            </a:r>
            <a:endParaRPr lang="en-US" sz="2800" dirty="0"/>
          </a:p>
        </p:txBody>
      </p:sp>
      <p:sp>
        <p:nvSpPr>
          <p:cNvPr id="6" name="Text 1">
            <a:extLst>
              <a:ext uri="{FF2B5EF4-FFF2-40B4-BE49-F238E27FC236}">
                <a16:creationId xmlns:a16="http://schemas.microsoft.com/office/drawing/2014/main" id="{AA9B3485-6CDE-CF3C-6F0A-E0C8658AB7D3}"/>
              </a:ext>
            </a:extLst>
          </p:cNvPr>
          <p:cNvSpPr/>
          <p:nvPr/>
        </p:nvSpPr>
        <p:spPr>
          <a:xfrm>
            <a:off x="457200" y="1103586"/>
            <a:ext cx="8229600" cy="5029200"/>
          </a:xfrm>
          <a:prstGeom prst="rect">
            <a:avLst/>
          </a:prstGeom>
          <a:noFill/>
          <a:ln/>
        </p:spPr>
        <p:txBody>
          <a:bodyPr wrap="square" rtlCol="0" anchor="t"/>
          <a:lstStyle/>
          <a:p>
            <a:pPr marL="342900" indent="-342900">
              <a:lnSpc>
                <a:spcPct val="150000"/>
              </a:lnSpc>
              <a:buSzPct val="100000"/>
              <a:buChar char="•"/>
            </a:pPr>
            <a:endParaRPr lang="en-US" sz="1800" dirty="0"/>
          </a:p>
        </p:txBody>
      </p:sp>
      <p:sp>
        <p:nvSpPr>
          <p:cNvPr id="2" name="Rectangle 1">
            <a:extLst>
              <a:ext uri="{FF2B5EF4-FFF2-40B4-BE49-F238E27FC236}">
                <a16:creationId xmlns:a16="http://schemas.microsoft.com/office/drawing/2014/main" id="{EEEA0E1D-CB0E-49DE-81A6-F738247015F8}"/>
              </a:ext>
            </a:extLst>
          </p:cNvPr>
          <p:cNvSpPr>
            <a:spLocks noChangeArrowheads="1"/>
          </p:cNvSpPr>
          <p:nvPr/>
        </p:nvSpPr>
        <p:spPr bwMode="auto">
          <a:xfrm>
            <a:off x="216026" y="1038676"/>
            <a:ext cx="8640960"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285750" indent="-285750" eaLnBrk="0" fontAlgn="base" hangingPunct="0">
              <a:spcBef>
                <a:spcPct val="0"/>
              </a:spcBef>
              <a:spcAft>
                <a:spcPts val="600"/>
              </a:spcAft>
              <a:buFont typeface="Arial" panose="020B0604020202020204" pitchFamily="34" charset="0"/>
              <a:buChar char="•"/>
            </a:pPr>
            <a:r>
              <a:rPr lang="en-US" altLang="en-US" sz="1600" b="1" dirty="0">
                <a:latin typeface="Google Sans Text"/>
              </a:rPr>
              <a:t>Scale and Computational Constraints: </a:t>
            </a:r>
            <a:r>
              <a:rPr lang="en-US" altLang="en-US" sz="1600" dirty="0">
                <a:latin typeface="Google Sans Text"/>
              </a:rPr>
              <a:t>Hardware limits on the Google </a:t>
            </a:r>
            <a:r>
              <a:rPr lang="en-US" altLang="en-US" sz="1600" dirty="0" err="1">
                <a:latin typeface="Google Sans Text"/>
              </a:rPr>
              <a:t>Colab</a:t>
            </a:r>
            <a:r>
              <a:rPr lang="en-US" altLang="en-US" sz="1600" dirty="0">
                <a:latin typeface="Google Sans Text"/>
              </a:rPr>
              <a:t> T4 GPU constrained the dataset to 1,000 images. Testing at larger cluster sizes (e.g., </a:t>
            </a:r>
            <a:r>
              <a:rPr lang="en-US" altLang="en-US" sz="1600" i="1" dirty="0">
                <a:latin typeface="Google Sans Text"/>
              </a:rPr>
              <a:t>N</a:t>
            </a:r>
            <a:r>
              <a:rPr lang="en-US" altLang="en-US" sz="1600" dirty="0">
                <a:latin typeface="Google Sans Text"/>
              </a:rPr>
              <a:t>=5,000 or 10,000) could potentially reveal different asymptotic behaviors in the averaging attack.</a:t>
            </a:r>
          </a:p>
          <a:p>
            <a:pPr marL="285750" indent="-285750" eaLnBrk="0" fontAlgn="base" hangingPunct="0">
              <a:spcBef>
                <a:spcPct val="0"/>
              </a:spcBef>
              <a:spcAft>
                <a:spcPts val="600"/>
              </a:spcAft>
              <a:buFont typeface="Arial" panose="020B0604020202020204" pitchFamily="34" charset="0"/>
              <a:buChar char="•"/>
            </a:pPr>
            <a:r>
              <a:rPr lang="en-US" altLang="en-US" sz="1600" b="1" dirty="0">
                <a:latin typeface="Google Sans Text"/>
              </a:rPr>
              <a:t>Isolated Attack Scope: </a:t>
            </a:r>
            <a:r>
              <a:rPr lang="en-US" altLang="en-US" sz="1600" dirty="0">
                <a:latin typeface="Google Sans Text"/>
              </a:rPr>
              <a:t>Geometric transformations were tested independently. The study does not account for compound attacks (e.g., simultaneous cropping and rotation) which are highly probable in real-world adversarial editing.</a:t>
            </a:r>
          </a:p>
          <a:p>
            <a:pPr marL="285750" indent="-285750" eaLnBrk="0" fontAlgn="base" hangingPunct="0">
              <a:spcBef>
                <a:spcPct val="0"/>
              </a:spcBef>
              <a:spcAft>
                <a:spcPts val="600"/>
              </a:spcAft>
              <a:buFont typeface="Arial" panose="020B0604020202020204" pitchFamily="34" charset="0"/>
              <a:buChar char="•"/>
            </a:pPr>
            <a:r>
              <a:rPr lang="en-US" altLang="en-US" sz="1600" b="1" dirty="0">
                <a:latin typeface="Google Sans Text"/>
              </a:rPr>
              <a:t>Binary Verification Metric: </a:t>
            </a:r>
            <a:r>
              <a:rPr lang="en-US" altLang="en-US" sz="1600" dirty="0">
                <a:latin typeface="Google Sans Text"/>
              </a:rPr>
              <a:t>The Verification Success Rate (VSR) is strictly binary. Because it treats a single-bit payload error exactly the same as complete QR code destruction, it obscures the nuanced degradation profile of the watermark under moderate attacks.</a:t>
            </a:r>
          </a:p>
          <a:p>
            <a:pPr marL="285750" indent="-285750" eaLnBrk="0" fontAlgn="base" hangingPunct="0">
              <a:spcBef>
                <a:spcPct val="0"/>
              </a:spcBef>
              <a:spcAft>
                <a:spcPts val="600"/>
              </a:spcAft>
              <a:buFont typeface="Arial" panose="020B0604020202020204" pitchFamily="34" charset="0"/>
              <a:buChar char="•"/>
            </a:pPr>
            <a:r>
              <a:rPr lang="en-US" altLang="en-US" sz="1600" b="1" dirty="0">
                <a:latin typeface="Google Sans Text"/>
              </a:rPr>
              <a:t>Limited Generalizability: </a:t>
            </a:r>
            <a:r>
              <a:rPr lang="en-US" altLang="en-US" sz="1600" dirty="0">
                <a:latin typeface="Google Sans Text"/>
              </a:rPr>
              <a:t>The findings and identified vulnerabilities are intrinsically tied to </a:t>
            </a:r>
            <a:r>
              <a:rPr lang="en-US" altLang="en-US" sz="1600" dirty="0" err="1">
                <a:latin typeface="Google Sans Text"/>
              </a:rPr>
              <a:t>MetaSeal’s</a:t>
            </a:r>
            <a:r>
              <a:rPr lang="en-US" altLang="en-US" sz="1600" dirty="0">
                <a:latin typeface="Google Sans Text"/>
              </a:rPr>
              <a:t> specific DWT/QR/INN architecture. These outcomes cannot be automatically applied to other cryptographic or semi-fragile watermarking frameworks.</a:t>
            </a: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21</a:t>
            </a:fld>
            <a:endParaRPr lang="en-GB"/>
          </a:p>
        </p:txBody>
      </p:sp>
      <p:sp>
        <p:nvSpPr>
          <p:cNvPr id="4" name="Text 0">
            <a:extLst>
              <a:ext uri="{FF2B5EF4-FFF2-40B4-BE49-F238E27FC236}">
                <a16:creationId xmlns:a16="http://schemas.microsoft.com/office/drawing/2014/main" id="{5B3B1E83-AF2C-8829-F12C-AA724DBBFBFF}"/>
              </a:ext>
            </a:extLst>
          </p:cNvPr>
          <p:cNvSpPr/>
          <p:nvPr/>
        </p:nvSpPr>
        <p:spPr>
          <a:xfrm>
            <a:off x="457200" y="274320"/>
            <a:ext cx="8229600" cy="731520"/>
          </a:xfrm>
          <a:prstGeom prst="rect">
            <a:avLst/>
          </a:prstGeom>
          <a:noFill/>
          <a:ln/>
        </p:spPr>
        <p:txBody>
          <a:bodyPr wrap="square" rtlCol="0" anchor="ctr"/>
          <a:lstStyle/>
          <a:p>
            <a:pPr marL="0" indent="0">
              <a:buNone/>
            </a:pPr>
            <a:r>
              <a:rPr lang="en-US" sz="2800" b="1" dirty="0">
                <a:solidFill>
                  <a:srgbClr val="003366"/>
                </a:solidFill>
              </a:rPr>
              <a:t>RECOMMENDATIONS FOR FUTURE WORK</a:t>
            </a:r>
            <a:endParaRPr lang="en-US" sz="2800" dirty="0"/>
          </a:p>
        </p:txBody>
      </p:sp>
      <p:graphicFrame>
        <p:nvGraphicFramePr>
          <p:cNvPr id="7" name="Diagram 6">
            <a:extLst>
              <a:ext uri="{FF2B5EF4-FFF2-40B4-BE49-F238E27FC236}">
                <a16:creationId xmlns:a16="http://schemas.microsoft.com/office/drawing/2014/main" id="{AA3D64F6-32E4-C5CB-427C-EAAF216A07B2}"/>
              </a:ext>
            </a:extLst>
          </p:cNvPr>
          <p:cNvGraphicFramePr/>
          <p:nvPr>
            <p:extLst>
              <p:ext uri="{D42A27DB-BD31-4B8C-83A1-F6EECF244321}">
                <p14:modId xmlns:p14="http://schemas.microsoft.com/office/powerpoint/2010/main" val="2331364109"/>
              </p:ext>
            </p:extLst>
          </p:nvPr>
        </p:nvGraphicFramePr>
        <p:xfrm>
          <a:off x="251520" y="1347614"/>
          <a:ext cx="8712968" cy="30534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22</a:t>
            </a:fld>
            <a:endParaRPr lang="en-GB"/>
          </a:p>
        </p:txBody>
      </p:sp>
      <p:sp>
        <p:nvSpPr>
          <p:cNvPr id="7" name="Text 0">
            <a:extLst>
              <a:ext uri="{FF2B5EF4-FFF2-40B4-BE49-F238E27FC236}">
                <a16:creationId xmlns:a16="http://schemas.microsoft.com/office/drawing/2014/main" id="{B33A6895-45E3-2556-C877-76E810699CED}"/>
              </a:ext>
            </a:extLst>
          </p:cNvPr>
          <p:cNvSpPr/>
          <p:nvPr/>
        </p:nvSpPr>
        <p:spPr>
          <a:xfrm>
            <a:off x="457200" y="274320"/>
            <a:ext cx="8229600" cy="731520"/>
          </a:xfrm>
          <a:prstGeom prst="rect">
            <a:avLst/>
          </a:prstGeom>
          <a:noFill/>
          <a:ln/>
        </p:spPr>
        <p:txBody>
          <a:bodyPr wrap="square" rtlCol="0" anchor="ctr"/>
          <a:lstStyle/>
          <a:p>
            <a:pPr marL="0" indent="0">
              <a:buNone/>
            </a:pPr>
            <a:r>
              <a:rPr lang="en-US" sz="2800" b="1" dirty="0">
                <a:solidFill>
                  <a:srgbClr val="003366"/>
                </a:solidFill>
              </a:rPr>
              <a:t>CONCLUSION</a:t>
            </a:r>
            <a:endParaRPr lang="en-US" sz="2800" dirty="0"/>
          </a:p>
        </p:txBody>
      </p:sp>
      <p:sp>
        <p:nvSpPr>
          <p:cNvPr id="8" name="Text 1">
            <a:extLst>
              <a:ext uri="{FF2B5EF4-FFF2-40B4-BE49-F238E27FC236}">
                <a16:creationId xmlns:a16="http://schemas.microsoft.com/office/drawing/2014/main" id="{0AB5115A-2A1A-318E-7D46-AA20AE9F8B18}"/>
              </a:ext>
            </a:extLst>
          </p:cNvPr>
          <p:cNvSpPr/>
          <p:nvPr/>
        </p:nvSpPr>
        <p:spPr>
          <a:xfrm>
            <a:off x="457200" y="1277007"/>
            <a:ext cx="8229600" cy="5029200"/>
          </a:xfrm>
          <a:prstGeom prst="rect">
            <a:avLst/>
          </a:prstGeom>
          <a:noFill/>
          <a:ln/>
        </p:spPr>
        <p:txBody>
          <a:bodyPr wrap="square" rtlCol="0" anchor="t"/>
          <a:lstStyle/>
          <a:p>
            <a:pPr marL="342900" indent="-342900">
              <a:lnSpc>
                <a:spcPct val="150000"/>
              </a:lnSpc>
              <a:buSzPct val="100000"/>
              <a:buChar char="•"/>
            </a:pPr>
            <a:endParaRPr lang="en-US" sz="1800" dirty="0"/>
          </a:p>
        </p:txBody>
      </p:sp>
      <p:sp>
        <p:nvSpPr>
          <p:cNvPr id="2" name="Rectangle 1">
            <a:extLst>
              <a:ext uri="{FF2B5EF4-FFF2-40B4-BE49-F238E27FC236}">
                <a16:creationId xmlns:a16="http://schemas.microsoft.com/office/drawing/2014/main" id="{E7CA9344-C0EC-4059-A4BC-A15C3C9F245A}"/>
              </a:ext>
            </a:extLst>
          </p:cNvPr>
          <p:cNvSpPr>
            <a:spLocks noChangeArrowheads="1"/>
          </p:cNvSpPr>
          <p:nvPr/>
        </p:nvSpPr>
        <p:spPr bwMode="auto">
          <a:xfrm>
            <a:off x="179512" y="1131590"/>
            <a:ext cx="8931468"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285750" marR="0" lvl="0" indent="-285750" eaLnBrk="0" fontAlgn="base" hangingPunct="0">
              <a:lnSpc>
                <a:spcPct val="100000"/>
              </a:lnSpc>
              <a:spcBef>
                <a:spcPct val="0"/>
              </a:spcBef>
              <a:spcAft>
                <a:spcPts val="600"/>
              </a:spcAft>
              <a:buClrTx/>
              <a:buSzTx/>
              <a:buFont typeface="Arial" panose="020B0604020202020204" pitchFamily="34" charset="0"/>
              <a:buChar char="•"/>
              <a:tabLst/>
            </a:pPr>
            <a:r>
              <a:rPr lang="en-US" altLang="en-US" sz="1600" b="1" dirty="0">
                <a:latin typeface="Google Sans Text"/>
              </a:rPr>
              <a:t>Mixed Robustness Profile</a:t>
            </a:r>
            <a:r>
              <a:rPr lang="en-US" altLang="en-US" sz="1600" dirty="0">
                <a:latin typeface="Google Sans Text"/>
              </a:rPr>
              <a:t>: </a:t>
            </a:r>
            <a:r>
              <a:rPr lang="en-US" altLang="en-US" sz="1600" dirty="0" err="1">
                <a:latin typeface="Google Sans Text"/>
              </a:rPr>
              <a:t>MetaSeal</a:t>
            </a:r>
            <a:r>
              <a:rPr lang="en-US" altLang="en-US" sz="1600" dirty="0">
                <a:latin typeface="Google Sans Text"/>
              </a:rPr>
              <a:t> possesses a theoretically sound cryptographic architecture but suffers from a structurally fragile practical implementation. </a:t>
            </a:r>
          </a:p>
          <a:p>
            <a:pPr marL="285750" marR="0" lvl="0" indent="-285750" eaLnBrk="0" fontAlgn="base" hangingPunct="0">
              <a:lnSpc>
                <a:spcPct val="100000"/>
              </a:lnSpc>
              <a:spcBef>
                <a:spcPct val="0"/>
              </a:spcBef>
              <a:spcAft>
                <a:spcPts val="600"/>
              </a:spcAft>
              <a:buClrTx/>
              <a:buSzTx/>
              <a:buFont typeface="Arial" panose="020B0604020202020204" pitchFamily="34" charset="0"/>
              <a:buChar char="•"/>
              <a:tabLst/>
            </a:pPr>
            <a:r>
              <a:rPr lang="en-US" altLang="en-US" sz="1600" b="1" dirty="0">
                <a:latin typeface="Google Sans Text"/>
              </a:rPr>
              <a:t>Spatial Fragility Confirmed (Experiment A): </a:t>
            </a:r>
            <a:r>
              <a:rPr lang="en-US" altLang="en-US" sz="1600" dirty="0">
                <a:latin typeface="Google Sans Text"/>
              </a:rPr>
              <a:t>The DWT/QR-code pipeline is acutely vulnerable to routine geometric manipulations, failing completely under resolution scaling, horizontal flipping, and aggressive centre-cropping (&gt; 40%). </a:t>
            </a:r>
          </a:p>
          <a:p>
            <a:pPr marL="285750" marR="0" lvl="0" indent="-285750" eaLnBrk="0" fontAlgn="base" hangingPunct="0">
              <a:lnSpc>
                <a:spcPct val="100000"/>
              </a:lnSpc>
              <a:spcBef>
                <a:spcPct val="0"/>
              </a:spcBef>
              <a:spcAft>
                <a:spcPts val="600"/>
              </a:spcAft>
              <a:buClrTx/>
              <a:buSzTx/>
              <a:buFont typeface="Arial" panose="020B0604020202020204" pitchFamily="34" charset="0"/>
              <a:buChar char="•"/>
              <a:tabLst/>
            </a:pPr>
            <a:r>
              <a:rPr lang="en-US" altLang="en-US" sz="1600" b="1" dirty="0">
                <a:latin typeface="Google Sans Text"/>
              </a:rPr>
              <a:t>Semantic Security Validated (Experiment B):</a:t>
            </a:r>
            <a:r>
              <a:rPr lang="en-US" altLang="en-US" sz="1600" dirty="0">
                <a:latin typeface="Google Sans Text"/>
              </a:rPr>
              <a:t> The system successfully neutralizes large-scale semantic averaging attacks (up to </a:t>
            </a:r>
            <a:r>
              <a:rPr lang="en-US" altLang="en-US" sz="1600" i="1" dirty="0">
                <a:latin typeface="Google Sans Text"/>
              </a:rPr>
              <a:t>N</a:t>
            </a:r>
            <a:r>
              <a:rPr lang="en-US" altLang="en-US" sz="1600" dirty="0">
                <a:latin typeface="Google Sans Text"/>
              </a:rPr>
              <a:t>=1,000), empirically proving that its content-dependent design guarantees watermark non-transferability. </a:t>
            </a:r>
          </a:p>
          <a:p>
            <a:pPr marL="285750" marR="0" lvl="0" indent="-285750" eaLnBrk="0" fontAlgn="base" hangingPunct="0">
              <a:lnSpc>
                <a:spcPct val="100000"/>
              </a:lnSpc>
              <a:spcBef>
                <a:spcPct val="0"/>
              </a:spcBef>
              <a:spcAft>
                <a:spcPts val="600"/>
              </a:spcAft>
              <a:buClrTx/>
              <a:buSzTx/>
              <a:buFont typeface="Arial" panose="020B0604020202020204" pitchFamily="34" charset="0"/>
              <a:buChar char="•"/>
              <a:tabLst/>
            </a:pPr>
            <a:r>
              <a:rPr lang="en-US" altLang="en-US" sz="1600" b="1" dirty="0">
                <a:latin typeface="Google Sans Text"/>
              </a:rPr>
              <a:t>Vulnerability Localized: </a:t>
            </a:r>
            <a:r>
              <a:rPr lang="en-US" altLang="en-US" sz="1600" dirty="0" err="1">
                <a:latin typeface="Google Sans Text"/>
              </a:rPr>
              <a:t>MetaSeal</a:t>
            </a:r>
            <a:r>
              <a:rPr lang="en-US" altLang="en-US" sz="1600" dirty="0">
                <a:latin typeface="Google Sans Text"/>
              </a:rPr>
              <a:t> doesn’t break due to weak cryptography (ECDSA); rather, the failure point is entirely isolated to the spatial rigidity of the QR-based decoding layer. And this in itself could be seen as an advantage in certain applications of </a:t>
            </a:r>
            <a:r>
              <a:rPr lang="en-US" altLang="en-US" sz="1600" dirty="0" err="1">
                <a:latin typeface="Google Sans Text"/>
              </a:rPr>
              <a:t>MetaSeal</a:t>
            </a:r>
            <a:r>
              <a:rPr lang="en-US" altLang="en-US" sz="1600" dirty="0">
                <a:latin typeface="Google Sans Text"/>
              </a:rPr>
              <a:t> where keeping the precise original image is important</a:t>
            </a: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23</a:t>
            </a:fld>
            <a:endParaRPr lang="en-GB"/>
          </a:p>
        </p:txBody>
      </p:sp>
      <p:sp>
        <p:nvSpPr>
          <p:cNvPr id="4" name="Text 0">
            <a:extLst>
              <a:ext uri="{FF2B5EF4-FFF2-40B4-BE49-F238E27FC236}">
                <a16:creationId xmlns:a16="http://schemas.microsoft.com/office/drawing/2014/main" id="{535BE5BA-19D5-3035-C62F-48F143B8BCB1}"/>
              </a:ext>
            </a:extLst>
          </p:cNvPr>
          <p:cNvSpPr/>
          <p:nvPr/>
        </p:nvSpPr>
        <p:spPr>
          <a:xfrm>
            <a:off x="457200" y="274320"/>
            <a:ext cx="8229600" cy="731520"/>
          </a:xfrm>
          <a:prstGeom prst="rect">
            <a:avLst/>
          </a:prstGeom>
          <a:noFill/>
          <a:ln/>
        </p:spPr>
        <p:txBody>
          <a:bodyPr wrap="square" rtlCol="0" anchor="ctr"/>
          <a:lstStyle/>
          <a:p>
            <a:pPr marL="0" indent="0">
              <a:buNone/>
            </a:pPr>
            <a:r>
              <a:rPr lang="en-US" sz="2800" b="1" dirty="0">
                <a:solidFill>
                  <a:srgbClr val="003366"/>
                </a:solidFill>
              </a:rPr>
              <a:t>ACKNOWLEDGEMENTS</a:t>
            </a:r>
            <a:endParaRPr lang="en-US" sz="2800" dirty="0"/>
          </a:p>
        </p:txBody>
      </p:sp>
      <p:sp>
        <p:nvSpPr>
          <p:cNvPr id="6" name="Text 1">
            <a:extLst>
              <a:ext uri="{FF2B5EF4-FFF2-40B4-BE49-F238E27FC236}">
                <a16:creationId xmlns:a16="http://schemas.microsoft.com/office/drawing/2014/main" id="{2A6517A8-9914-4ACE-E183-FA55F9597F43}"/>
              </a:ext>
            </a:extLst>
          </p:cNvPr>
          <p:cNvSpPr/>
          <p:nvPr/>
        </p:nvSpPr>
        <p:spPr>
          <a:xfrm>
            <a:off x="457200" y="1206062"/>
            <a:ext cx="8229600" cy="5029200"/>
          </a:xfrm>
          <a:prstGeom prst="rect">
            <a:avLst/>
          </a:prstGeom>
          <a:noFill/>
          <a:ln/>
        </p:spPr>
        <p:txBody>
          <a:bodyPr wrap="square" rtlCol="0" anchor="t"/>
          <a:lstStyle/>
          <a:p>
            <a:pPr marL="342900" indent="-342900">
              <a:lnSpc>
                <a:spcPct val="150000"/>
              </a:lnSpc>
              <a:buSzPct val="100000"/>
              <a:buChar char="•"/>
            </a:pPr>
            <a:r>
              <a:rPr lang="en-US" sz="1800" dirty="0">
                <a:solidFill>
                  <a:srgbClr val="363636"/>
                </a:solidFill>
              </a:rPr>
              <a:t>Almighty God for His sufficient grace and guidance.</a:t>
            </a:r>
            <a:endParaRPr lang="en-US" sz="1800" dirty="0"/>
          </a:p>
          <a:p>
            <a:pPr marL="342900" indent="-342900">
              <a:lnSpc>
                <a:spcPct val="150000"/>
              </a:lnSpc>
              <a:buSzPct val="100000"/>
              <a:buChar char="•"/>
            </a:pPr>
            <a:r>
              <a:rPr lang="en-US" sz="1800" dirty="0">
                <a:solidFill>
                  <a:srgbClr val="363636"/>
                </a:solidFill>
              </a:rPr>
              <a:t>Supervisor: Miss Jemimah Nathaniel, for invaluable guidance and insightful feedback.</a:t>
            </a:r>
            <a:endParaRPr lang="en-US" sz="1800" dirty="0"/>
          </a:p>
          <a:p>
            <a:pPr marL="342900" indent="-342900">
              <a:lnSpc>
                <a:spcPct val="150000"/>
              </a:lnSpc>
              <a:buSzPct val="100000"/>
              <a:buChar char="•"/>
            </a:pPr>
            <a:r>
              <a:rPr lang="en-US" sz="1800" dirty="0">
                <a:solidFill>
                  <a:srgbClr val="363636"/>
                </a:solidFill>
              </a:rPr>
              <a:t>HOD: Prof. Aderonke A. Oni for her support and leadership.</a:t>
            </a:r>
          </a:p>
          <a:p>
            <a:pPr marL="342900" indent="-342900">
              <a:lnSpc>
                <a:spcPct val="150000"/>
              </a:lnSpc>
              <a:buSzPct val="100000"/>
              <a:buChar char="•"/>
            </a:pPr>
            <a:r>
              <a:rPr lang="en-US" dirty="0">
                <a:solidFill>
                  <a:srgbClr val="363636"/>
                </a:solidFill>
              </a:rPr>
              <a:t>Lecturers: for their support and insights.</a:t>
            </a:r>
            <a:endParaRPr lang="en-US" sz="1800" dirty="0"/>
          </a:p>
          <a:p>
            <a:pPr marL="342900" indent="-342900">
              <a:lnSpc>
                <a:spcPct val="150000"/>
              </a:lnSpc>
              <a:buSzPct val="100000"/>
              <a:buChar char="•"/>
            </a:pPr>
            <a:r>
              <a:rPr lang="en-US" sz="1800" dirty="0">
                <a:solidFill>
                  <a:srgbClr val="363636"/>
                </a:solidFill>
              </a:rPr>
              <a:t>Family &amp; Friends for their constant love, support, and encouragement.</a:t>
            </a:r>
            <a:endParaRPr lang="en-US" sz="1800" dirty="0"/>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24</a:t>
            </a:fld>
            <a:endParaRPr lang="en-GB"/>
          </a:p>
        </p:txBody>
      </p:sp>
      <p:sp>
        <p:nvSpPr>
          <p:cNvPr id="4" name="Text 0">
            <a:extLst>
              <a:ext uri="{FF2B5EF4-FFF2-40B4-BE49-F238E27FC236}">
                <a16:creationId xmlns:a16="http://schemas.microsoft.com/office/drawing/2014/main" id="{618BC12E-E379-AF39-D368-353F4C6592D9}"/>
              </a:ext>
            </a:extLst>
          </p:cNvPr>
          <p:cNvSpPr/>
          <p:nvPr/>
        </p:nvSpPr>
        <p:spPr>
          <a:xfrm>
            <a:off x="457200" y="274320"/>
            <a:ext cx="8229600" cy="731520"/>
          </a:xfrm>
          <a:prstGeom prst="rect">
            <a:avLst/>
          </a:prstGeom>
          <a:noFill/>
          <a:ln/>
        </p:spPr>
        <p:txBody>
          <a:bodyPr wrap="square" rtlCol="0" anchor="ctr"/>
          <a:lstStyle/>
          <a:p>
            <a:pPr marL="0" indent="0">
              <a:buNone/>
            </a:pPr>
            <a:r>
              <a:rPr lang="en-US" sz="2800" b="1" dirty="0">
                <a:solidFill>
                  <a:srgbClr val="003366"/>
                </a:solidFill>
              </a:rPr>
              <a:t>REFERENCES</a:t>
            </a:r>
            <a:endParaRPr lang="en-US" sz="2800" dirty="0"/>
          </a:p>
        </p:txBody>
      </p:sp>
      <p:sp>
        <p:nvSpPr>
          <p:cNvPr id="6" name="Text 1">
            <a:extLst>
              <a:ext uri="{FF2B5EF4-FFF2-40B4-BE49-F238E27FC236}">
                <a16:creationId xmlns:a16="http://schemas.microsoft.com/office/drawing/2014/main" id="{4176D2F9-3024-EF4D-5D05-E6B784CA3DB7}"/>
              </a:ext>
            </a:extLst>
          </p:cNvPr>
          <p:cNvSpPr/>
          <p:nvPr/>
        </p:nvSpPr>
        <p:spPr>
          <a:xfrm>
            <a:off x="457200" y="1005840"/>
            <a:ext cx="8229600" cy="5029200"/>
          </a:xfrm>
          <a:prstGeom prst="rect">
            <a:avLst/>
          </a:prstGeom>
          <a:noFill/>
          <a:ln/>
        </p:spPr>
        <p:txBody>
          <a:bodyPr wrap="square" rtlCol="0" anchor="t"/>
          <a:lstStyle/>
          <a:p>
            <a:pPr marL="342900" indent="-342900">
              <a:spcAft>
                <a:spcPts val="400"/>
              </a:spcAft>
              <a:buSzPct val="100000"/>
              <a:buChar char="•"/>
            </a:pPr>
            <a:r>
              <a:rPr lang="en-US" sz="1600" dirty="0">
                <a:solidFill>
                  <a:srgbClr val="363636"/>
                </a:solidFill>
                <a:cs typeface="Times New Roman" panose="02020603050405020304" pitchFamily="18" charset="0"/>
              </a:rPr>
              <a:t>Abubakar, A. M., &amp; Behravesh, E. (2019). Digital transformation in higher education: Challenges and opportunities for collaboration. Journal of Higher Education Policy and Management, 41(6), 526-542.</a:t>
            </a:r>
            <a:endParaRPr lang="en-US" sz="1600" dirty="0">
              <a:cs typeface="Times New Roman" panose="02020603050405020304" pitchFamily="18" charset="0"/>
            </a:endParaRPr>
          </a:p>
          <a:p>
            <a:pPr marL="342900" indent="-342900">
              <a:spcAft>
                <a:spcPts val="400"/>
              </a:spcAft>
              <a:buSzPct val="100000"/>
              <a:buChar char="•"/>
            </a:pPr>
            <a:r>
              <a:rPr lang="en-US" sz="1600" dirty="0">
                <a:solidFill>
                  <a:srgbClr val="363636"/>
                </a:solidFill>
                <a:cs typeface="Times New Roman" panose="02020603050405020304" pitchFamily="18" charset="0"/>
              </a:rPr>
              <a:t>Akgun, S., &amp; Greenhow, C. (2022). Artificial intelligence in education: Addressing ethical challenges in K-12 settings. AI Ethics, 2, 431-440.</a:t>
            </a:r>
            <a:endParaRPr lang="en-US" sz="1600" dirty="0">
              <a:cs typeface="Times New Roman" panose="02020603050405020304" pitchFamily="18" charset="0"/>
            </a:endParaRPr>
          </a:p>
          <a:p>
            <a:pPr marL="342900" indent="-342900">
              <a:spcAft>
                <a:spcPts val="400"/>
              </a:spcAft>
              <a:buSzPct val="100000"/>
              <a:buChar char="•"/>
            </a:pPr>
            <a:r>
              <a:rPr lang="en-US" sz="1600" dirty="0">
                <a:solidFill>
                  <a:srgbClr val="363636"/>
                </a:solidFill>
                <a:cs typeface="Times New Roman" panose="02020603050405020304" pitchFamily="18" charset="0"/>
              </a:rPr>
              <a:t>James, L. M., Ridenour, K., &amp; Simon, B. (2024). Teams in the digital workplace: Technology’s role for academic project management. Journal of Workplace Learning, 36(1), 15-27.</a:t>
            </a:r>
            <a:endParaRPr lang="en-US" sz="1600" dirty="0">
              <a:cs typeface="Times New Roman" panose="02020603050405020304" pitchFamily="18" charset="0"/>
            </a:endParaRPr>
          </a:p>
          <a:p>
            <a:pPr marL="342900" indent="-342900">
              <a:spcAft>
                <a:spcPts val="400"/>
              </a:spcAft>
              <a:buSzPct val="100000"/>
              <a:buChar char="•"/>
            </a:pPr>
            <a:r>
              <a:rPr lang="en-US" sz="1600" dirty="0">
                <a:solidFill>
                  <a:srgbClr val="363636"/>
                </a:solidFill>
                <a:cs typeface="Times New Roman" panose="02020603050405020304" pitchFamily="18" charset="0"/>
              </a:rPr>
              <a:t>Salas, Reyes &amp; McDaniel (2018). (Reference inferred from text)</a:t>
            </a:r>
            <a:endParaRPr lang="en-US" sz="1600" dirty="0">
              <a:cs typeface="Times New Roman" panose="02020603050405020304" pitchFamily="18" charset="0"/>
            </a:endParaRPr>
          </a:p>
          <a:p>
            <a:pPr marL="342900" indent="-342900">
              <a:spcAft>
                <a:spcPts val="400"/>
              </a:spcAft>
              <a:buSzPct val="100000"/>
              <a:buChar char="•"/>
            </a:pPr>
            <a:r>
              <a:rPr lang="en-US" sz="1600" dirty="0">
                <a:solidFill>
                  <a:srgbClr val="363636"/>
                </a:solidFill>
                <a:cs typeface="Times New Roman" panose="02020603050405020304" pitchFamily="18" charset="0"/>
              </a:rPr>
              <a:t>Terzopoulos, G., &amp; Satratzemi, M. (2019). Intelligent collaborative systems in higher education. Education and Information Technologies, 24(2), 1589-1609.</a:t>
            </a:r>
            <a:endParaRPr lang="en-US" sz="1600" dirty="0">
              <a:cs typeface="Times New Roman" panose="02020603050405020304" pitchFamily="18" charset="0"/>
            </a:endParaRPr>
          </a:p>
          <a:p>
            <a:pPr marL="342900" indent="-342900">
              <a:spcAft>
                <a:spcPts val="400"/>
              </a:spcAft>
              <a:buSzPct val="100000"/>
              <a:buChar char="•"/>
            </a:pPr>
            <a:r>
              <a:rPr lang="en-US" sz="1600" dirty="0">
                <a:solidFill>
                  <a:srgbClr val="363636"/>
                </a:solidFill>
                <a:cs typeface="Times New Roman" panose="02020603050405020304" pitchFamily="18" charset="0"/>
              </a:rPr>
              <a:t>Willging, P. A., &amp; Johnson, S. D. (2019). Factors that influence students’ decision to drop out of online courses. Journal of Asynchronous Learning Networks, 13(2), 115-127.</a:t>
            </a:r>
            <a:endParaRPr lang="en-US" sz="1600" dirty="0">
              <a:cs typeface="Times New Roman" panose="02020603050405020304" pitchFamily="18" charset="0"/>
            </a:endParaRPr>
          </a:p>
          <a:p>
            <a:pPr marL="342900" indent="-342900">
              <a:spcAft>
                <a:spcPts val="400"/>
              </a:spcAft>
              <a:buSzPct val="100000"/>
              <a:buChar char="•"/>
            </a:pPr>
            <a:r>
              <a:rPr lang="en-US" sz="1600" dirty="0">
                <a:solidFill>
                  <a:srgbClr val="363636"/>
                </a:solidFill>
                <a:cs typeface="Times New Roman" panose="02020603050405020304" pitchFamily="18" charset="0"/>
              </a:rPr>
              <a:t>Wollny, S., Schneider, J., &amp; Krüger, A. (2021). Intelligent task management through machine learning and workflow automation. ACM Computing Surveys, 54(8), 1-35.</a:t>
            </a:r>
            <a:endParaRPr lang="en-US" sz="1600" dirty="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25</a:t>
            </a:fld>
            <a:endParaRPr lang="en-GB"/>
          </a:p>
        </p:txBody>
      </p:sp>
      <p:sp>
        <p:nvSpPr>
          <p:cNvPr id="4" name="TextBox 3">
            <a:extLst>
              <a:ext uri="{FF2B5EF4-FFF2-40B4-BE49-F238E27FC236}">
                <a16:creationId xmlns:a16="http://schemas.microsoft.com/office/drawing/2014/main" id="{C853AAB3-BDFE-C406-6DF3-F55D22104C90}"/>
              </a:ext>
            </a:extLst>
          </p:cNvPr>
          <p:cNvSpPr txBox="1"/>
          <p:nvPr/>
        </p:nvSpPr>
        <p:spPr>
          <a:xfrm>
            <a:off x="2752976" y="2178204"/>
            <a:ext cx="3638047" cy="523220"/>
          </a:xfrm>
          <a:prstGeom prst="rect">
            <a:avLst/>
          </a:prstGeom>
          <a:noFill/>
        </p:spPr>
        <p:txBody>
          <a:bodyPr wrap="none" rtlCol="0">
            <a:spAutoFit/>
          </a:bodyPr>
          <a:lstStyle/>
          <a:p>
            <a:r>
              <a:rPr lang="en-US" sz="2800" b="1" dirty="0"/>
              <a:t>Thank You for Listening</a:t>
            </a: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nvSpPr>
        <p:spPr>
          <a:xfrm>
            <a:off x="8646160" y="4748530"/>
            <a:ext cx="464820" cy="394970"/>
          </a:xfrm>
          <a:prstGeom prst="rect">
            <a:avLst/>
          </a:prstGeom>
          <a:solidFill>
            <a:srgbClr val="460046"/>
          </a:solidFill>
        </p:spPr>
        <p:txBody>
          <a:bodyPr vert="horz" lIns="91440" tIns="45720" rIns="91440" bIns="45720" rtlCol="0" anchor="b"/>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310DB28-467B-42AB-AF30-926E64120C57}" type="slidenum">
              <a:rPr lang="en-GB" smtClean="0"/>
              <a:t>26</a:t>
            </a:fld>
            <a:endParaRPr lang="en-GB"/>
          </a:p>
        </p:txBody>
      </p:sp>
    </p:spTree>
    <p:extLst>
      <p:ext uri="{BB962C8B-B14F-4D97-AF65-F5344CB8AC3E}">
        <p14:creationId xmlns:p14="http://schemas.microsoft.com/office/powerpoint/2010/main" val="3485744249"/>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TotalTime>
  <Words>2643</Words>
  <Application>Microsoft Office PowerPoint</Application>
  <PresentationFormat>On-screen Show (16:9)</PresentationFormat>
  <Paragraphs>234</Paragraphs>
  <Slides>26</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Calibri</vt:lpstr>
      <vt:lpstr>Google Sans Text</vt:lpstr>
      <vt:lpstr>Merriweather</vt:lpstr>
      <vt:lpstr>Roboto</vt:lpstr>
      <vt:lpstr>Symbol</vt:lpstr>
      <vt:lpstr>Times New Roman</vt:lpstr>
      <vt:lpstr>Wingdings</vt:lpstr>
      <vt:lpstr>Office Theme</vt:lpstr>
      <vt:lpstr>EVALUATION OF METASEAL’S CRYPTOGRAPHIC WATERMARKING PIPELINE AGAINST GEOMETRIC SPATIAL ATTACKS AND LARGE-SCALE SEMANTIC AVERAGING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AZUBUIKE EZENWOKE</dc:creator>
  <cp:lastModifiedBy>Divine Aghulor</cp:lastModifiedBy>
  <cp:revision>2568</cp:revision>
  <cp:lastPrinted>2026-03-26T10:07:00Z</cp:lastPrinted>
  <dcterms:created xsi:type="dcterms:W3CDTF">2026-03-26T10:07:00Z</dcterms:created>
  <dcterms:modified xsi:type="dcterms:W3CDTF">2026-06-19T06:27:09Z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25B78F6B7E6844AE9816BB1D44F3732A_13</vt:lpwstr>
  </property>
  <property fmtid="{D5CDD505-2E9C-101B-9397-08002B2CF9AE}" pid="3" name="KSOProductBuildVer">
    <vt:lpwstr>1033-12.2.0.23196</vt:lpwstr>
  </property>
</Properties>
</file>